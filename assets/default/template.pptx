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56" r:id="rId4"/>
    <p:sldMasterId id="2147483660" r:id="rId5"/>
    <p:sldMasterId id="2147483664" r:id="rId6"/>
    <p:sldMasterId id="2147483668" r:id="rId7"/>
    <p:sldMasterId id="2147483672" r:id="rId8"/>
    <p:sldMasterId id="2147483676" r:id="rId9"/>
    <p:sldMasterId id="2147483680" r:id="rId10"/>
    <p:sldMasterId id="2147483684" r:id="rId11"/>
  </p:sldMasterIdLst>
  <p:notesMasterIdLst>
    <p:notesMasterId r:id="rId43"/>
  </p:notesMasterIdLst>
  <p:handoutMasterIdLst>
    <p:handoutMasterId r:id="rId44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</p:sldIdLst>
  <p:sldSz cx="9144000" cy="6858000" type="overhead"/>
  <p:notesSz cx="7099300" cy="1023493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隔壁老王班的老白" initials="authorId_1104264838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00000"/>
    <a:srgbClr val="014181"/>
    <a:srgbClr val="4285F4"/>
    <a:srgbClr val="55AC24"/>
    <a:srgbClr val="FBBC05"/>
    <a:srgbClr val="0000CC"/>
    <a:srgbClr val="FF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804"/>
    <p:restoredTop sz="87485"/>
  </p:normalViewPr>
  <p:slideViewPr>
    <p:cSldViewPr showGuides="1">
      <p:cViewPr varScale="1">
        <p:scale>
          <a:sx n="136" d="100"/>
          <a:sy n="136" d="100"/>
        </p:scale>
        <p:origin x="2580" y="126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-1002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8" Type="http://schemas.openxmlformats.org/officeDocument/2006/relationships/commentAuthors" Target="commentAuthors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handoutMaster" Target="handoutMasters/handoutMaster1.xml"/><Relationship Id="rId43" Type="http://schemas.openxmlformats.org/officeDocument/2006/relationships/notesMaster" Target="notesMasters/notesMaster1.xml"/><Relationship Id="rId42" Type="http://schemas.openxmlformats.org/officeDocument/2006/relationships/slide" Target="slides/slide31.xml"/><Relationship Id="rId41" Type="http://schemas.openxmlformats.org/officeDocument/2006/relationships/slide" Target="slides/slide30.xml"/><Relationship Id="rId40" Type="http://schemas.openxmlformats.org/officeDocument/2006/relationships/slide" Target="slides/slide2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8.xml"/><Relationship Id="rId38" Type="http://schemas.openxmlformats.org/officeDocument/2006/relationships/slide" Target="slides/slide27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5" Type="http://schemas.openxmlformats.org/officeDocument/2006/relationships/slide" Target="slides/slide24.xml"/><Relationship Id="rId34" Type="http://schemas.openxmlformats.org/officeDocument/2006/relationships/slide" Target="slides/slide23.xml"/><Relationship Id="rId33" Type="http://schemas.openxmlformats.org/officeDocument/2006/relationships/slide" Target="slides/slide22.xml"/><Relationship Id="rId32" Type="http://schemas.openxmlformats.org/officeDocument/2006/relationships/slide" Target="slides/slide21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0" Type="http://schemas.openxmlformats.org/officeDocument/2006/relationships/slide" Target="slides/slide9.xml"/><Relationship Id="rId2" Type="http://schemas.openxmlformats.org/officeDocument/2006/relationships/theme" Target="theme/theme1.xml"/><Relationship Id="rId19" Type="http://schemas.openxmlformats.org/officeDocument/2006/relationships/slide" Target="slides/slide8.xml"/><Relationship Id="rId18" Type="http://schemas.openxmlformats.org/officeDocument/2006/relationships/slide" Target="slides/slide7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5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36" tIns="49518" rIns="99036" bIns="49518" numCol="1" anchor="t" anchorCtr="0" compatLnSpc="1"/>
          <a:lstStyle>
            <a:lvl1pPr algn="l" eaLnBrk="0" hangingPunct="0">
              <a:defRPr sz="1300">
                <a:ea typeface="楷体_GB2312" pitchFamily="49" charset="-122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36" tIns="49518" rIns="99036" bIns="49518" numCol="1" anchor="t" anchorCtr="0" compatLnSpc="1"/>
          <a:lstStyle>
            <a:lvl1pPr algn="r" eaLnBrk="0" hangingPunct="0">
              <a:defRPr sz="1300">
                <a:ea typeface="楷体_GB2312" pitchFamily="49" charset="-122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6F29DC3-4369-4DB0-ABDC-E830B5D1010C}" type="datetimeFigureOut">
              <a:rPr kumimoji="1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itchFamily="49" charset="-122"/>
                <a:cs typeface="+mn-cs"/>
              </a:rPr>
            </a:fld>
            <a:endParaRPr kumimoji="1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45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36" tIns="49518" rIns="99036" bIns="49518" numCol="1" anchor="b" anchorCtr="0" compatLnSpc="1"/>
          <a:lstStyle>
            <a:lvl1pPr algn="l" eaLnBrk="0" hangingPunct="0">
              <a:defRPr sz="1300">
                <a:ea typeface="楷体_GB2312" pitchFamily="49" charset="-122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45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36" tIns="49518" rIns="99036" bIns="49518" numCol="1" anchor="b" anchorCtr="0" compatLnSpc="1"/>
          <a:p>
            <a:pPr lvl="0" algn="r">
              <a:buNone/>
            </a:pPr>
            <a:fld id="{9A0DB2DC-4C9A-4742-B13C-FB6460FD3503}" type="slidenum">
              <a:rPr lang="zh-CN" altLang="en-US" sz="1300" dirty="0"/>
            </a:fld>
            <a:endParaRPr lang="zh-CN" altLang="en-US" sz="13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36" tIns="49518" rIns="99036" bIns="49518" rtlCol="0"/>
          <a:lstStyle>
            <a:lvl1pPr algn="l" eaLnBrk="1" hangingPunct="1">
              <a:defRPr sz="1300">
                <a:ea typeface="楷体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36" tIns="49518" rIns="99036" bIns="49518" rtlCol="0"/>
          <a:lstStyle>
            <a:lvl1pPr algn="r" eaLnBrk="1" hangingPunct="1">
              <a:defRPr sz="1300">
                <a:ea typeface="楷体_GB2312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6A6F1B-7581-4462-9E14-A6AF69F70455}" type="datetimeFigureOut">
              <a:rPr kumimoji="1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itchFamily="49" charset="-122"/>
                <a:cs typeface="+mn-cs"/>
              </a:rPr>
            </a:fld>
            <a:endParaRPr kumimoji="1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6" tIns="49518" rIns="99036" bIns="49518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36" tIns="49518" rIns="99036" bIns="49518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36" tIns="49518" rIns="99036" bIns="49518" rtlCol="0" anchor="b"/>
          <a:lstStyle>
            <a:lvl1pPr algn="l" eaLnBrk="1" hangingPunct="1">
              <a:defRPr sz="1300">
                <a:ea typeface="楷体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36" tIns="49518" rIns="99036" bIns="49518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300" dirty="0"/>
            </a:fld>
            <a:endParaRPr lang="zh-CN" altLang="en-US" sz="13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XX学院 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School of XX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6" Type="http://schemas.openxmlformats.org/officeDocument/2006/relationships/theme" Target="../theme/theme5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6.xml.rels><?xml version="1.0" encoding="UTF-8" standalone="yes"?>
<Relationships xmlns="http://schemas.openxmlformats.org/package/2006/relationships"><Relationship Id="rId6" Type="http://schemas.openxmlformats.org/officeDocument/2006/relationships/theme" Target="../theme/theme6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6" Type="http://schemas.openxmlformats.org/officeDocument/2006/relationships/theme" Target="../theme/theme7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6" Type="http://schemas.openxmlformats.org/officeDocument/2006/relationships/theme" Target="../theme/theme8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9.xml.rels><?xml version="1.0" encoding="UTF-8" standalone="yes"?>
<Relationships xmlns="http://schemas.openxmlformats.org/package/2006/relationships"><Relationship Id="rId6" Type="http://schemas.openxmlformats.org/officeDocument/2006/relationships/theme" Target="../theme/theme9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10.xml.rels><?xml version="1.0" encoding="UTF-8" standalone="yes"?>
<Relationships xmlns="http://schemas.openxmlformats.org/package/2006/relationships"><Relationship Id="rId6" Type="http://schemas.openxmlformats.org/officeDocument/2006/relationships/theme" Target="../theme/theme10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457200" y="1116013"/>
            <a:ext cx="8229600" cy="53768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微软雅黑" panose="020B0503020204020204" pitchFamily="34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5"/>
        </a:buBlip>
        <a:defRPr sz="3200" kern="1200">
          <a:solidFill>
            <a:srgbClr val="000066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457200" y="1116013"/>
            <a:ext cx="8229600" cy="53768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微软雅黑" panose="020B0503020204020204" pitchFamily="34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5"/>
        </a:buBlip>
        <a:defRPr sz="3200" kern="1200">
          <a:solidFill>
            <a:srgbClr val="000066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457200" y="1116013"/>
            <a:ext cx="8229600" cy="53768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微软雅黑" panose="020B0503020204020204" pitchFamily="34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5"/>
        </a:buBlip>
        <a:defRPr sz="3200" kern="1200">
          <a:solidFill>
            <a:srgbClr val="000066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457200" y="1116013"/>
            <a:ext cx="8229600" cy="53768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微软雅黑" panose="020B0503020204020204" pitchFamily="34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5"/>
        </a:buBlip>
        <a:defRPr sz="3200" kern="1200">
          <a:solidFill>
            <a:srgbClr val="000066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457200" y="1116013"/>
            <a:ext cx="8229600" cy="53768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微软雅黑" panose="020B0503020204020204" pitchFamily="34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5"/>
        </a:buBlip>
        <a:defRPr sz="3200" kern="1200">
          <a:solidFill>
            <a:srgbClr val="000066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457200" y="1116013"/>
            <a:ext cx="8229600" cy="53768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微软雅黑" panose="020B0503020204020204" pitchFamily="34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5"/>
        </a:buBlip>
        <a:defRPr sz="3200" kern="1200">
          <a:solidFill>
            <a:srgbClr val="000066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457200" y="1116013"/>
            <a:ext cx="8229600" cy="53768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微软雅黑" panose="020B0503020204020204" pitchFamily="34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5"/>
        </a:buBlip>
        <a:defRPr sz="3200" kern="1200">
          <a:solidFill>
            <a:srgbClr val="000066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457200" y="1116013"/>
            <a:ext cx="8229600" cy="53768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微软雅黑" panose="020B0503020204020204" pitchFamily="34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5"/>
        </a:buBlip>
        <a:defRPr sz="3200" kern="1200">
          <a:solidFill>
            <a:srgbClr val="000066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457200" y="1116013"/>
            <a:ext cx="8229600" cy="53768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微软雅黑" panose="020B0503020204020204" pitchFamily="34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5"/>
        </a:buBlip>
        <a:defRPr sz="3200" kern="1200">
          <a:solidFill>
            <a:srgbClr val="000066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457200" y="1116013"/>
            <a:ext cx="8229600" cy="53768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微软雅黑" panose="020B0503020204020204" pitchFamily="34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5"/>
        </a:buBlip>
        <a:defRPr sz="3200" kern="1200">
          <a:solidFill>
            <a:srgbClr val="000066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6824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388235"/>
            <a:ext cx="9144000" cy="272161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Bef>
                <a:spcPts val="1000"/>
              </a:spcBef>
            </a:pPr>
            <a:r>
              <a:rPr sz="2600" b="1">
                <a:solidFill>
                  <a:srgbClr val="000000"/>
                </a:solidFill>
                <a:latin typeface="Times New Roman" panose="02020503050405090304"/>
                <a:ea typeface="微软雅黑"/>
              </a:rPr>
              <a:t>Hyperion: Low-Latency Ultra-HD Video Analytics via Collaborative Vision Transformer Inference</a:t>
            </a:r>
            <a:endParaRPr sz="2600" b="1">
              <a:solidFill>
                <a:srgbClr val="000000"/>
              </a:solidFill>
              <a:latin typeface="Times New Roman" panose="02020503050405090304"/>
              <a:ea typeface="微软雅黑"/>
            </a:endParaRPr>
          </a:p>
          <a:p>
            <a:pPr algn="ctr">
              <a:spcBef>
                <a:spcPts val="1000"/>
              </a:spcBef>
            </a:pPr>
            <a:r>
              <a:rPr sz="2200" b="1">
                <a:solidFill>
                  <a:srgbClr val="0000CC"/>
                </a:solidFill>
                <a:latin typeface="Times New Roman" panose="02020503050405090304"/>
                <a:ea typeface="微软雅黑"/>
              </a:rPr>
              <a:t>面向超高清视频分析的云边协同 Vision Transformer 推理</a:t>
            </a:r>
            <a:endParaRPr sz="2200" b="1">
              <a:solidFill>
                <a:srgbClr val="0000CC"/>
              </a:solidFill>
              <a:latin typeface="Times New Roman" panose="02020503050405090304"/>
              <a:ea typeface="微软雅黑"/>
            </a:endParaRPr>
          </a:p>
          <a:p>
            <a:pPr algn="ctr">
              <a:spcBef>
                <a:spcPts val="1000"/>
              </a:spcBef>
            </a:pPr>
            <a:r>
              <a:rPr sz="1800" b="0">
                <a:solidFill>
                  <a:srgbClr val="595959"/>
                </a:solidFill>
                <a:latin typeface="Times New Roman" panose="02020503050405090304"/>
                <a:ea typeface="微软雅黑"/>
              </a:rPr>
              <a:t>IEEE INFOCOM 2026  |  文献调研分享</a:t>
            </a:r>
            <a:endParaRPr sz="1800" b="0">
              <a:solidFill>
                <a:srgbClr val="595959"/>
              </a:solidFill>
              <a:latin typeface="Times New Roman" panose="02020503050405090304"/>
              <a:ea typeface="微软雅黑"/>
            </a:endParaRPr>
          </a:p>
          <a:p>
            <a:pPr algn="ctr">
              <a:spcBef>
                <a:spcPts val="1000"/>
              </a:spcBef>
            </a:pPr>
            <a:r>
              <a:rPr sz="2400" b="0">
                <a:solidFill>
                  <a:srgbClr val="000000"/>
                </a:solidFill>
                <a:latin typeface="Times New Roman" panose="02020503050405090304"/>
                <a:ea typeface="微软雅黑"/>
              </a:rPr>
              <a:t>汇报人：</a:t>
            </a:r>
            <a:r>
              <a:rPr lang="zh-CN" sz="2400" b="0">
                <a:solidFill>
                  <a:srgbClr val="000000"/>
                </a:solidFill>
                <a:latin typeface="Times New Roman" panose="02020503050405090304"/>
                <a:ea typeface="微软雅黑"/>
              </a:rPr>
              <a:t/>
            </a:r>
            <a:endParaRPr sz="2400" b="0">
              <a:solidFill>
                <a:srgbClr val="000000"/>
              </a:solidFill>
              <a:latin typeface="Times New Roman" panose="02020503050405090304"/>
              <a:ea typeface="微软雅黑"/>
            </a:endParaRPr>
          </a:p>
          <a:p>
            <a:pPr algn="ctr">
              <a:spcBef>
                <a:spcPts val="1000"/>
              </a:spcBef>
            </a:pPr>
            <a:r>
              <a:rPr sz="2400" b="0">
                <a:solidFill>
                  <a:srgbClr val="000000"/>
                </a:solidFill>
                <a:latin typeface="Times New Roman" panose="02020503050405090304"/>
                <a:ea typeface="微软雅黑"/>
              </a:rPr>
              <a:t>2026 年 9 月</a:t>
            </a:r>
            <a:endParaRPr sz="2400" b="0">
              <a:solidFill>
                <a:srgbClr val="000000"/>
              </a:solidFill>
              <a:latin typeface="Times New Roman" panose="02020503050405090304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01" name="组合 3"/>
          <p:cNvGrpSpPr/>
          <p:nvPr/>
        </p:nvGrpSpPr>
        <p:grpSpPr>
          <a:xfrm>
            <a:off x="2038350" y="1392238"/>
            <a:ext cx="5041900" cy="4197350"/>
            <a:chOff x="2038558" y="1293022"/>
            <a:chExt cx="5041692" cy="4198286"/>
          </a:xfrm>
        </p:grpSpPr>
        <p:grpSp>
          <p:nvGrpSpPr>
            <p:cNvPr id="5002" name="组合 1"/>
            <p:cNvGrpSpPr/>
            <p:nvPr/>
          </p:nvGrpSpPr>
          <p:grpSpPr>
            <a:xfrm>
              <a:off x="2051050" y="1293022"/>
              <a:ext cx="5029200" cy="3346449"/>
              <a:chOff x="2051050" y="1681166"/>
              <a:chExt cx="5029200" cy="3346449"/>
            </a:xfrm>
          </p:grpSpPr>
          <p:grpSp>
            <p:nvGrpSpPr>
              <p:cNvPr id="5003" name="组合 3"/>
              <p:cNvGrpSpPr/>
              <p:nvPr/>
            </p:nvGrpSpPr>
            <p:grpSpPr>
              <a:xfrm>
                <a:off x="2051050" y="3452816"/>
                <a:ext cx="5029200" cy="711201"/>
                <a:chOff x="2273300" y="3806828"/>
                <a:chExt cx="5029200" cy="711201"/>
              </a:xfrm>
            </p:grpSpPr>
            <p:grpSp>
              <p:nvGrpSpPr>
                <p:cNvPr id="5004" name="Group 99"/>
                <p:cNvGrpSpPr/>
                <p:nvPr/>
              </p:nvGrpSpPr>
              <p:grpSpPr>
                <a:xfrm>
                  <a:off x="2273300" y="3806828"/>
                  <a:ext cx="5029200" cy="711201"/>
                  <a:chOff x="1344" y="1568"/>
                  <a:chExt cx="2928" cy="448"/>
                </a:xfrm>
              </p:grpSpPr>
              <p:sp>
                <p:nvSpPr>
                  <p:cNvPr id="5005" name="Freeform 100"/>
                  <p:cNvSpPr/>
                  <p:nvPr/>
                </p:nvSpPr>
                <p:spPr>
                  <a:xfrm>
                    <a:off x="1440" y="1826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006" name="Rectangle 101"/>
                  <p:cNvSpPr/>
                  <p:nvPr/>
                </p:nvSpPr>
                <p:spPr>
                  <a:xfrm>
                    <a:off x="1344" y="1568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B1EFD0"/>
                      </a:gs>
                      <a:gs pos="100000">
                        <a:srgbClr val="77E3AD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007" name="Text Box 102"/>
                <p:cNvSpPr txBox="1">
                  <a:spLocks noChangeArrowheads="1"/>
                </p:cNvSpPr>
                <p:nvPr/>
              </p:nvSpPr>
              <p:spPr bwMode="gray">
                <a:xfrm>
                  <a:off x="2954517" y="3831040"/>
                  <a:ext cx="3641575" cy="519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3.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算法框架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008" name="组合 2"/>
              <p:cNvGrpSpPr/>
              <p:nvPr/>
            </p:nvGrpSpPr>
            <p:grpSpPr>
              <a:xfrm>
                <a:off x="2051050" y="2544767"/>
                <a:ext cx="5029200" cy="711201"/>
                <a:chOff x="2273300" y="3138492"/>
                <a:chExt cx="5029200" cy="711201"/>
              </a:xfrm>
            </p:grpSpPr>
            <p:grpSp>
              <p:nvGrpSpPr>
                <p:cNvPr id="5009" name="Group 103"/>
                <p:cNvGrpSpPr/>
                <p:nvPr/>
              </p:nvGrpSpPr>
              <p:grpSpPr>
                <a:xfrm>
                  <a:off x="2273300" y="3138492"/>
                  <a:ext cx="5029200" cy="711201"/>
                  <a:chOff x="1344" y="1691"/>
                  <a:chExt cx="2928" cy="448"/>
                </a:xfrm>
              </p:grpSpPr>
              <p:sp>
                <p:nvSpPr>
                  <p:cNvPr id="5010" name="Freeform 104"/>
                  <p:cNvSpPr/>
                  <p:nvPr/>
                </p:nvSpPr>
                <p:spPr>
                  <a:xfrm>
                    <a:off x="1440" y="1949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011" name="Rectangle 105"/>
                  <p:cNvSpPr/>
                  <p:nvPr/>
                </p:nvSpPr>
                <p:spPr>
                  <a:xfrm>
                    <a:off x="1344" y="1691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F6E1BD"/>
                      </a:gs>
                      <a:gs pos="100000">
                        <a:srgbClr val="EAB764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012" name="Text Box 106"/>
                <p:cNvSpPr txBox="1">
                  <a:spLocks noChangeArrowheads="1"/>
                </p:cNvSpPr>
                <p:nvPr/>
              </p:nvSpPr>
              <p:spPr bwMode="gray">
                <a:xfrm>
                  <a:off x="2919593" y="3176793"/>
                  <a:ext cx="3713009" cy="5192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2.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研究思路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013" name="组合 5"/>
              <p:cNvGrpSpPr/>
              <p:nvPr/>
            </p:nvGrpSpPr>
            <p:grpSpPr>
              <a:xfrm>
                <a:off x="2051050" y="1681166"/>
                <a:ext cx="5029200" cy="695326"/>
                <a:chOff x="2273300" y="2387603"/>
                <a:chExt cx="5029200" cy="695326"/>
              </a:xfrm>
            </p:grpSpPr>
            <p:grpSp>
              <p:nvGrpSpPr>
                <p:cNvPr id="5014" name="Group 107"/>
                <p:cNvGrpSpPr/>
                <p:nvPr/>
              </p:nvGrpSpPr>
              <p:grpSpPr>
                <a:xfrm>
                  <a:off x="2273300" y="2387603"/>
                  <a:ext cx="5029200" cy="695326"/>
                  <a:chOff x="1344" y="1842"/>
                  <a:chExt cx="2928" cy="438"/>
                </a:xfrm>
              </p:grpSpPr>
              <p:sp>
                <p:nvSpPr>
                  <p:cNvPr id="5015" name="Freeform 108"/>
                  <p:cNvSpPr/>
                  <p:nvPr/>
                </p:nvSpPr>
                <p:spPr>
                  <a:xfrm>
                    <a:off x="1440" y="2090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016" name="Rectangle 109"/>
                  <p:cNvSpPr/>
                  <p:nvPr/>
                </p:nvSpPr>
                <p:spPr>
                  <a:xfrm>
                    <a:off x="1344" y="1842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F7F4DD"/>
                      </a:gs>
                      <a:gs pos="100000">
                        <a:srgbClr val="DACB5E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017" name="Text Box 110"/>
                <p:cNvSpPr txBox="1"/>
                <p:nvPr/>
              </p:nvSpPr>
              <p:spPr>
                <a:xfrm>
                  <a:off x="3026686" y="2433859"/>
                  <a:ext cx="3497262" cy="5191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>
                  <a:spAutoFit/>
                </a:bodyPr>
                <a:p>
                  <a:pPr marL="0" lvl="0" indent="0" algn="ctr">
                    <a:spcBef>
                      <a:spcPct val="0"/>
                    </a:spcBef>
                    <a:buSzTx/>
                    <a:buNone/>
                  </a:pPr>
                  <a:r>
                    <a:rPr lang="en-US" altLang="zh-CN" sz="2800" b="1" dirty="0">
                      <a:solidFill>
                        <a:schemeClr val="tx1"/>
                      </a:solidFill>
                      <a:latin typeface="Times New Roman" panose="02020503050405090304" pitchFamily="18" charset="0"/>
                    </a:rPr>
                    <a:t>1. </a:t>
                  </a:r>
                  <a:r>
                    <a:rPr lang="zh-CN" altLang="en-US" sz="2800" b="1" dirty="0">
                      <a:solidFill>
                        <a:schemeClr val="tx1"/>
                      </a:solidFill>
                      <a:latin typeface="Times New Roman" panose="02020503050405090304" pitchFamily="18" charset="0"/>
                    </a:rPr>
                    <a:t>研究背景</a:t>
                  </a:r>
                  <a:endParaRPr lang="zh-CN" altLang="en-US" sz="2800" b="1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5018" name="组合 6"/>
              <p:cNvGrpSpPr/>
              <p:nvPr/>
            </p:nvGrpSpPr>
            <p:grpSpPr>
              <a:xfrm>
                <a:off x="2051050" y="4316414"/>
                <a:ext cx="5029200" cy="711201"/>
                <a:chOff x="2273300" y="4532314"/>
                <a:chExt cx="5029200" cy="711201"/>
              </a:xfrm>
            </p:grpSpPr>
            <p:grpSp>
              <p:nvGrpSpPr>
                <p:cNvPr id="5019" name="Group 111"/>
                <p:cNvGrpSpPr/>
                <p:nvPr/>
              </p:nvGrpSpPr>
              <p:grpSpPr>
                <a:xfrm>
                  <a:off x="2273300" y="4532314"/>
                  <a:ext cx="5029200" cy="711201"/>
                  <a:chOff x="1344" y="1417"/>
                  <a:chExt cx="2928" cy="448"/>
                </a:xfrm>
              </p:grpSpPr>
              <p:sp>
                <p:nvSpPr>
                  <p:cNvPr id="5020" name="Freeform 112"/>
                  <p:cNvSpPr/>
                  <p:nvPr/>
                </p:nvSpPr>
                <p:spPr>
                  <a:xfrm>
                    <a:off x="1440" y="1675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021" name="Rectangle 113"/>
                  <p:cNvSpPr/>
                  <p:nvPr/>
                </p:nvSpPr>
                <p:spPr>
                  <a:xfrm>
                    <a:off x="1344" y="1417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CDD6FE"/>
                      </a:gs>
                      <a:gs pos="100000">
                        <a:srgbClr val="9EB0FE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022" name="Text Box 114"/>
                <p:cNvSpPr txBox="1">
                  <a:spLocks noChangeArrowheads="1"/>
                </p:cNvSpPr>
                <p:nvPr/>
              </p:nvSpPr>
              <p:spPr bwMode="gray">
                <a:xfrm>
                  <a:off x="2967216" y="4591653"/>
                  <a:ext cx="3641575" cy="519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4.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实验结果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5023" name="组合 2"/>
            <p:cNvGrpSpPr/>
            <p:nvPr/>
          </p:nvGrpSpPr>
          <p:grpSpPr>
            <a:xfrm>
              <a:off x="2038558" y="4779921"/>
              <a:ext cx="5029018" cy="711387"/>
              <a:chOff x="2203450" y="666957"/>
              <a:chExt cx="5029018" cy="711387"/>
            </a:xfrm>
          </p:grpSpPr>
          <p:sp>
            <p:nvSpPr>
              <p:cNvPr id="5024" name="Freeform 108"/>
              <p:cNvSpPr/>
              <p:nvPr/>
            </p:nvSpPr>
            <p:spPr>
              <a:xfrm>
                <a:off x="2368342" y="1076719"/>
                <a:ext cx="4699416" cy="301625"/>
              </a:xfrm>
              <a:custGeom>
                <a:avLst/>
                <a:gdLst>
                  <a:gd name="txL" fmla="*/ 0 w 1120"/>
                  <a:gd name="txT" fmla="*/ 0 h 252"/>
                  <a:gd name="txR" fmla="*/ 1120 w 1120"/>
                  <a:gd name="txB" fmla="*/ 252 h 252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0" y="2147483646"/>
                  </a:cxn>
                  <a:cxn ang="0">
                    <a:pos x="0" y="2147483646"/>
                  </a:cxn>
                  <a:cxn ang="0">
                    <a:pos x="2147483646" y="0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1120" h="252">
                    <a:moveTo>
                      <a:pt x="1120" y="252"/>
                    </a:moveTo>
                    <a:lnTo>
                      <a:pt x="1116" y="250"/>
                    </a:lnTo>
                    <a:lnTo>
                      <a:pt x="1100" y="246"/>
                    </a:lnTo>
                    <a:lnTo>
                      <a:pt x="1074" y="240"/>
                    </a:lnTo>
                    <a:lnTo>
                      <a:pt x="1038" y="232"/>
                    </a:lnTo>
                    <a:lnTo>
                      <a:pt x="992" y="222"/>
                    </a:lnTo>
                    <a:lnTo>
                      <a:pt x="938" y="212"/>
                    </a:lnTo>
                    <a:lnTo>
                      <a:pt x="876" y="204"/>
                    </a:lnTo>
                    <a:lnTo>
                      <a:pt x="806" y="196"/>
                    </a:lnTo>
                    <a:lnTo>
                      <a:pt x="730" y="190"/>
                    </a:lnTo>
                    <a:lnTo>
                      <a:pt x="646" y="184"/>
                    </a:lnTo>
                    <a:lnTo>
                      <a:pt x="556" y="184"/>
                    </a:lnTo>
                    <a:lnTo>
                      <a:pt x="466" y="184"/>
                    </a:lnTo>
                    <a:lnTo>
                      <a:pt x="384" y="190"/>
                    </a:lnTo>
                    <a:lnTo>
                      <a:pt x="308" y="196"/>
                    </a:lnTo>
                    <a:lnTo>
                      <a:pt x="238" y="204"/>
                    </a:lnTo>
                    <a:lnTo>
                      <a:pt x="178" y="212"/>
                    </a:lnTo>
                    <a:lnTo>
                      <a:pt x="126" y="222"/>
                    </a:lnTo>
                    <a:lnTo>
                      <a:pt x="82" y="232"/>
                    </a:lnTo>
                    <a:lnTo>
                      <a:pt x="46" y="240"/>
                    </a:lnTo>
                    <a:lnTo>
                      <a:pt x="20" y="246"/>
                    </a:lnTo>
                    <a:lnTo>
                      <a:pt x="6" y="250"/>
                    </a:lnTo>
                    <a:lnTo>
                      <a:pt x="0" y="252"/>
                    </a:lnTo>
                    <a:lnTo>
                      <a:pt x="0" y="62"/>
                    </a:lnTo>
                    <a:lnTo>
                      <a:pt x="560" y="0"/>
                    </a:lnTo>
                    <a:lnTo>
                      <a:pt x="1120" y="62"/>
                    </a:lnTo>
                    <a:lnTo>
                      <a:pt x="1120" y="252"/>
                    </a:lnTo>
                    <a:close/>
                  </a:path>
                </a:pathLst>
              </a:custGeom>
              <a:solidFill>
                <a:srgbClr val="808080">
                  <a:alpha val="100000"/>
                </a:srgbClr>
              </a:solidFill>
              <a:ln w="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025" name="Rectangle 109"/>
              <p:cNvSpPr>
                <a:spLocks noChangeArrowheads="1"/>
              </p:cNvSpPr>
              <p:nvPr/>
            </p:nvSpPr>
            <p:spPr bwMode="gray">
              <a:xfrm>
                <a:off x="2203450" y="666985"/>
                <a:ext cx="5028993" cy="624026"/>
              </a:xfrm>
              <a:prstGeom prst="rect">
                <a:avLst/>
              </a:prstGeom>
              <a:gradFill rotWithShape="1">
                <a:gsLst>
                  <a:gs pos="98000">
                    <a:schemeClr val="accent2">
                      <a:lumMod val="20000"/>
                      <a:lumOff val="80000"/>
                    </a:schemeClr>
                  </a:gs>
                  <a:gs pos="100000">
                    <a:srgbClr val="DACB5E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26" name="Text Box 110"/>
              <p:cNvSpPr txBox="1">
                <a:spLocks noChangeArrowheads="1"/>
              </p:cNvSpPr>
              <p:nvPr/>
            </p:nvSpPr>
            <p:spPr bwMode="gray">
              <a:xfrm>
                <a:off x="2649520" y="751141"/>
                <a:ext cx="3497118" cy="519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>
                <a:spAutoFit/>
              </a:bodyPr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rPr>
                  <a:t>5. </a:t>
                </a: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rPr>
                  <a:t>总结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5027" name="TextBox 5026"/>
          <p:cNvSpPr txBox="1"/>
          <p:nvPr/>
        </p:nvSpPr>
        <p:spPr>
          <a:xfrm>
            <a:off x="6894576" y="9144"/>
            <a:ext cx="100584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chemeClr val="bg1"/>
                </a:solidFill>
                <a:latin typeface="Times New Roman" panose="02020503050405090304"/>
                <a:ea typeface="微软雅黑"/>
              </a:rPr>
              <a:t>提纲</a:t>
            </a:r>
            <a:endParaRPr sz="3200" b="1">
              <a:solidFill>
                <a:schemeClr val="bg1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2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28" name="组合 3"/>
          <p:cNvGrpSpPr/>
          <p:nvPr/>
        </p:nvGrpSpPr>
        <p:grpSpPr>
          <a:xfrm>
            <a:off x="2038350" y="1392238"/>
            <a:ext cx="5041900" cy="4197350"/>
            <a:chOff x="2038558" y="1293022"/>
            <a:chExt cx="5041692" cy="4198286"/>
          </a:xfrm>
        </p:grpSpPr>
        <p:grpSp>
          <p:nvGrpSpPr>
            <p:cNvPr id="5029" name="组合 1"/>
            <p:cNvGrpSpPr/>
            <p:nvPr/>
          </p:nvGrpSpPr>
          <p:grpSpPr>
            <a:xfrm>
              <a:off x="2051050" y="1293022"/>
              <a:ext cx="5029200" cy="3346449"/>
              <a:chOff x="2051050" y="1681166"/>
              <a:chExt cx="5029200" cy="3346449"/>
            </a:xfrm>
          </p:grpSpPr>
          <p:grpSp>
            <p:nvGrpSpPr>
              <p:cNvPr id="5030" name="组合 3"/>
              <p:cNvGrpSpPr/>
              <p:nvPr/>
            </p:nvGrpSpPr>
            <p:grpSpPr>
              <a:xfrm>
                <a:off x="2051050" y="3452816"/>
                <a:ext cx="5029200" cy="711201"/>
                <a:chOff x="2273300" y="3806828"/>
                <a:chExt cx="5029200" cy="711201"/>
              </a:xfrm>
            </p:grpSpPr>
            <p:grpSp>
              <p:nvGrpSpPr>
                <p:cNvPr id="5031" name="Group 99"/>
                <p:cNvGrpSpPr/>
                <p:nvPr/>
              </p:nvGrpSpPr>
              <p:grpSpPr>
                <a:xfrm>
                  <a:off x="2273300" y="3806828"/>
                  <a:ext cx="5029200" cy="711201"/>
                  <a:chOff x="1344" y="1568"/>
                  <a:chExt cx="2928" cy="448"/>
                </a:xfrm>
              </p:grpSpPr>
              <p:sp>
                <p:nvSpPr>
                  <p:cNvPr id="5032" name="Freeform 100"/>
                  <p:cNvSpPr/>
                  <p:nvPr/>
                </p:nvSpPr>
                <p:spPr>
                  <a:xfrm>
                    <a:off x="1440" y="1826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033" name="Rectangle 101"/>
                  <p:cNvSpPr/>
                  <p:nvPr/>
                </p:nvSpPr>
                <p:spPr>
                  <a:xfrm>
                    <a:off x="1344" y="1568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B1EFD0"/>
                      </a:gs>
                      <a:gs pos="100000">
                        <a:srgbClr val="77E3AD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034" name="Text Box 102"/>
                <p:cNvSpPr txBox="1">
                  <a:spLocks noChangeArrowheads="1"/>
                </p:cNvSpPr>
                <p:nvPr/>
              </p:nvSpPr>
              <p:spPr bwMode="gray">
                <a:xfrm>
                  <a:off x="2954517" y="3831040"/>
                  <a:ext cx="3641575" cy="519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3.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算法框架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035" name="组合 2"/>
              <p:cNvGrpSpPr/>
              <p:nvPr/>
            </p:nvGrpSpPr>
            <p:grpSpPr>
              <a:xfrm>
                <a:off x="2051050" y="2544767"/>
                <a:ext cx="5029200" cy="711201"/>
                <a:chOff x="2273300" y="3138492"/>
                <a:chExt cx="5029200" cy="711201"/>
              </a:xfrm>
            </p:grpSpPr>
            <p:grpSp>
              <p:nvGrpSpPr>
                <p:cNvPr id="5036" name="Group 103"/>
                <p:cNvGrpSpPr/>
                <p:nvPr/>
              </p:nvGrpSpPr>
              <p:grpSpPr>
                <a:xfrm>
                  <a:off x="2273300" y="3138492"/>
                  <a:ext cx="5029200" cy="711201"/>
                  <a:chOff x="1344" y="1691"/>
                  <a:chExt cx="2928" cy="448"/>
                </a:xfrm>
              </p:grpSpPr>
              <p:sp>
                <p:nvSpPr>
                  <p:cNvPr id="5037" name="Freeform 104"/>
                  <p:cNvSpPr/>
                  <p:nvPr/>
                </p:nvSpPr>
                <p:spPr>
                  <a:xfrm>
                    <a:off x="1440" y="1949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038" name="Rectangle 105"/>
                  <p:cNvSpPr/>
                  <p:nvPr/>
                </p:nvSpPr>
                <p:spPr>
                  <a:xfrm>
                    <a:off x="1344" y="1691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F6E1BD"/>
                      </a:gs>
                      <a:gs pos="100000">
                        <a:srgbClr val="EAB764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039" name="Text Box 106"/>
                <p:cNvSpPr txBox="1">
                  <a:spLocks noChangeArrowheads="1"/>
                </p:cNvSpPr>
                <p:nvPr/>
              </p:nvSpPr>
              <p:spPr bwMode="gray">
                <a:xfrm>
                  <a:off x="2919593" y="3176793"/>
                  <a:ext cx="3713009" cy="5192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2.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研究思路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040" name="组合 5"/>
              <p:cNvGrpSpPr/>
              <p:nvPr/>
            </p:nvGrpSpPr>
            <p:grpSpPr>
              <a:xfrm>
                <a:off x="2051050" y="1681166"/>
                <a:ext cx="5029200" cy="695326"/>
                <a:chOff x="2273300" y="2387603"/>
                <a:chExt cx="5029200" cy="695326"/>
              </a:xfrm>
            </p:grpSpPr>
            <p:grpSp>
              <p:nvGrpSpPr>
                <p:cNvPr id="5041" name="Group 107"/>
                <p:cNvGrpSpPr/>
                <p:nvPr/>
              </p:nvGrpSpPr>
              <p:grpSpPr>
                <a:xfrm>
                  <a:off x="2273300" y="2387603"/>
                  <a:ext cx="5029200" cy="695326"/>
                  <a:chOff x="1344" y="1842"/>
                  <a:chExt cx="2928" cy="438"/>
                </a:xfrm>
              </p:grpSpPr>
              <p:sp>
                <p:nvSpPr>
                  <p:cNvPr id="5042" name="Freeform 108"/>
                  <p:cNvSpPr/>
                  <p:nvPr/>
                </p:nvSpPr>
                <p:spPr>
                  <a:xfrm>
                    <a:off x="1440" y="2090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043" name="Rectangle 109"/>
                  <p:cNvSpPr/>
                  <p:nvPr/>
                </p:nvSpPr>
                <p:spPr>
                  <a:xfrm>
                    <a:off x="1344" y="1842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F7F4DD"/>
                      </a:gs>
                      <a:gs pos="100000">
                        <a:srgbClr val="DACB5E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044" name="Text Box 110"/>
                <p:cNvSpPr txBox="1"/>
                <p:nvPr/>
              </p:nvSpPr>
              <p:spPr>
                <a:xfrm>
                  <a:off x="3026686" y="2433859"/>
                  <a:ext cx="3497262" cy="5191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>
                  <a:spAutoFit/>
                </a:bodyPr>
                <a:p>
                  <a:pPr marL="0" lvl="0" indent="0" algn="ctr">
                    <a:spcBef>
                      <a:spcPct val="0"/>
                    </a:spcBef>
                    <a:buSzTx/>
                    <a:buNone/>
                  </a:pPr>
                  <a:r>
                    <a:rPr lang="en-US" altLang="zh-CN" sz="2800" b="1" dirty="0">
                      <a:solidFill>
                        <a:schemeClr val="tx1"/>
                      </a:solidFill>
                      <a:latin typeface="Times New Roman" panose="02020503050405090304" pitchFamily="18" charset="0"/>
                    </a:rPr>
                    <a:t>1. </a:t>
                  </a:r>
                  <a:r>
                    <a:rPr lang="zh-CN" altLang="en-US" sz="2800" b="1" dirty="0">
                      <a:solidFill>
                        <a:schemeClr val="tx1"/>
                      </a:solidFill>
                      <a:latin typeface="Times New Roman" panose="02020503050405090304" pitchFamily="18" charset="0"/>
                    </a:rPr>
                    <a:t>研究背景</a:t>
                  </a:r>
                  <a:endParaRPr lang="zh-CN" altLang="en-US" sz="2800" b="1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5045" name="组合 6"/>
              <p:cNvGrpSpPr/>
              <p:nvPr/>
            </p:nvGrpSpPr>
            <p:grpSpPr>
              <a:xfrm>
                <a:off x="2051050" y="4316414"/>
                <a:ext cx="5029200" cy="711201"/>
                <a:chOff x="2273300" y="4532314"/>
                <a:chExt cx="5029200" cy="711201"/>
              </a:xfrm>
            </p:grpSpPr>
            <p:grpSp>
              <p:nvGrpSpPr>
                <p:cNvPr id="5046" name="Group 111"/>
                <p:cNvGrpSpPr/>
                <p:nvPr/>
              </p:nvGrpSpPr>
              <p:grpSpPr>
                <a:xfrm>
                  <a:off x="2273300" y="4532314"/>
                  <a:ext cx="5029200" cy="711201"/>
                  <a:chOff x="1344" y="1417"/>
                  <a:chExt cx="2928" cy="448"/>
                </a:xfrm>
              </p:grpSpPr>
              <p:sp>
                <p:nvSpPr>
                  <p:cNvPr id="5047" name="Freeform 112"/>
                  <p:cNvSpPr/>
                  <p:nvPr/>
                </p:nvSpPr>
                <p:spPr>
                  <a:xfrm>
                    <a:off x="1440" y="1675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048" name="Rectangle 113"/>
                  <p:cNvSpPr/>
                  <p:nvPr/>
                </p:nvSpPr>
                <p:spPr>
                  <a:xfrm>
                    <a:off x="1344" y="1417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CDD6FE"/>
                      </a:gs>
                      <a:gs pos="100000">
                        <a:srgbClr val="9EB0FE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049" name="Text Box 114"/>
                <p:cNvSpPr txBox="1">
                  <a:spLocks noChangeArrowheads="1"/>
                </p:cNvSpPr>
                <p:nvPr/>
              </p:nvSpPr>
              <p:spPr bwMode="gray">
                <a:xfrm>
                  <a:off x="2967216" y="4591653"/>
                  <a:ext cx="3641575" cy="519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4.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实验结果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5050" name="组合 2"/>
            <p:cNvGrpSpPr/>
            <p:nvPr/>
          </p:nvGrpSpPr>
          <p:grpSpPr>
            <a:xfrm>
              <a:off x="2038558" y="4779921"/>
              <a:ext cx="5029018" cy="711387"/>
              <a:chOff x="2203450" y="666957"/>
              <a:chExt cx="5029018" cy="711387"/>
            </a:xfrm>
          </p:grpSpPr>
          <p:sp>
            <p:nvSpPr>
              <p:cNvPr id="5051" name="Freeform 108"/>
              <p:cNvSpPr/>
              <p:nvPr/>
            </p:nvSpPr>
            <p:spPr>
              <a:xfrm>
                <a:off x="2368342" y="1076719"/>
                <a:ext cx="4699416" cy="301625"/>
              </a:xfrm>
              <a:custGeom>
                <a:avLst/>
                <a:gdLst>
                  <a:gd name="txL" fmla="*/ 0 w 1120"/>
                  <a:gd name="txT" fmla="*/ 0 h 252"/>
                  <a:gd name="txR" fmla="*/ 1120 w 1120"/>
                  <a:gd name="txB" fmla="*/ 252 h 252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0" y="2147483646"/>
                  </a:cxn>
                  <a:cxn ang="0">
                    <a:pos x="0" y="2147483646"/>
                  </a:cxn>
                  <a:cxn ang="0">
                    <a:pos x="2147483646" y="0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1120" h="252">
                    <a:moveTo>
                      <a:pt x="1120" y="252"/>
                    </a:moveTo>
                    <a:lnTo>
                      <a:pt x="1116" y="250"/>
                    </a:lnTo>
                    <a:lnTo>
                      <a:pt x="1100" y="246"/>
                    </a:lnTo>
                    <a:lnTo>
                      <a:pt x="1074" y="240"/>
                    </a:lnTo>
                    <a:lnTo>
                      <a:pt x="1038" y="232"/>
                    </a:lnTo>
                    <a:lnTo>
                      <a:pt x="992" y="222"/>
                    </a:lnTo>
                    <a:lnTo>
                      <a:pt x="938" y="212"/>
                    </a:lnTo>
                    <a:lnTo>
                      <a:pt x="876" y="204"/>
                    </a:lnTo>
                    <a:lnTo>
                      <a:pt x="806" y="196"/>
                    </a:lnTo>
                    <a:lnTo>
                      <a:pt x="730" y="190"/>
                    </a:lnTo>
                    <a:lnTo>
                      <a:pt x="646" y="184"/>
                    </a:lnTo>
                    <a:lnTo>
                      <a:pt x="556" y="184"/>
                    </a:lnTo>
                    <a:lnTo>
                      <a:pt x="466" y="184"/>
                    </a:lnTo>
                    <a:lnTo>
                      <a:pt x="384" y="190"/>
                    </a:lnTo>
                    <a:lnTo>
                      <a:pt x="308" y="196"/>
                    </a:lnTo>
                    <a:lnTo>
                      <a:pt x="238" y="204"/>
                    </a:lnTo>
                    <a:lnTo>
                      <a:pt x="178" y="212"/>
                    </a:lnTo>
                    <a:lnTo>
                      <a:pt x="126" y="222"/>
                    </a:lnTo>
                    <a:lnTo>
                      <a:pt x="82" y="232"/>
                    </a:lnTo>
                    <a:lnTo>
                      <a:pt x="46" y="240"/>
                    </a:lnTo>
                    <a:lnTo>
                      <a:pt x="20" y="246"/>
                    </a:lnTo>
                    <a:lnTo>
                      <a:pt x="6" y="250"/>
                    </a:lnTo>
                    <a:lnTo>
                      <a:pt x="0" y="252"/>
                    </a:lnTo>
                    <a:lnTo>
                      <a:pt x="0" y="62"/>
                    </a:lnTo>
                    <a:lnTo>
                      <a:pt x="560" y="0"/>
                    </a:lnTo>
                    <a:lnTo>
                      <a:pt x="1120" y="62"/>
                    </a:lnTo>
                    <a:lnTo>
                      <a:pt x="1120" y="252"/>
                    </a:lnTo>
                    <a:close/>
                  </a:path>
                </a:pathLst>
              </a:custGeom>
              <a:solidFill>
                <a:srgbClr val="808080">
                  <a:alpha val="100000"/>
                </a:srgbClr>
              </a:solidFill>
              <a:ln w="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052" name="Rectangle 109"/>
              <p:cNvSpPr>
                <a:spLocks noChangeArrowheads="1"/>
              </p:cNvSpPr>
              <p:nvPr/>
            </p:nvSpPr>
            <p:spPr bwMode="gray">
              <a:xfrm>
                <a:off x="2203450" y="666985"/>
                <a:ext cx="5028993" cy="624026"/>
              </a:xfrm>
              <a:prstGeom prst="rect">
                <a:avLst/>
              </a:prstGeom>
              <a:gradFill rotWithShape="1">
                <a:gsLst>
                  <a:gs pos="98000">
                    <a:schemeClr val="accent2">
                      <a:lumMod val="20000"/>
                      <a:lumOff val="80000"/>
                    </a:schemeClr>
                  </a:gs>
                  <a:gs pos="100000">
                    <a:srgbClr val="DACB5E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53" name="Text Box 110"/>
              <p:cNvSpPr txBox="1">
                <a:spLocks noChangeArrowheads="1"/>
              </p:cNvSpPr>
              <p:nvPr/>
            </p:nvSpPr>
            <p:spPr bwMode="gray">
              <a:xfrm>
                <a:off x="2649520" y="751141"/>
                <a:ext cx="3497118" cy="519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>
                <a:spAutoFit/>
              </a:bodyPr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rPr>
                  <a:t>5. </a:t>
                </a: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rPr>
                  <a:t>总结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5054" name="TextBox 5053"/>
          <p:cNvSpPr txBox="1"/>
          <p:nvPr/>
        </p:nvSpPr>
        <p:spPr>
          <a:xfrm>
            <a:off x="6894576" y="9144"/>
            <a:ext cx="100584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chemeClr val="bg1"/>
                </a:solidFill>
                <a:latin typeface="Times New Roman" panose="02020503050405090304"/>
                <a:ea typeface="微软雅黑"/>
              </a:rPr>
              <a:t>提纲</a:t>
            </a:r>
            <a:endParaRPr sz="3200" b="1">
              <a:solidFill>
                <a:schemeClr val="bg1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2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研究背景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055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056" name="TextBox 5055"/>
          <p:cNvSpPr txBox="1"/>
          <p:nvPr/>
        </p:nvSpPr>
        <p:spPr>
          <a:xfrm>
            <a:off x="502920" y="91440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超高清视频分析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057" name="TextBox 5056"/>
          <p:cNvSpPr txBox="1"/>
          <p:nvPr/>
        </p:nvSpPr>
        <p:spPr>
          <a:xfrm>
            <a:off x="502920" y="1325880"/>
            <a:ext cx="8138160" cy="20116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阵列相机由多个微型相机组成，可实时拍摄 4K、8K 乃至十亿像素视频，单帧分辨率可达 26,753 × 15,052，覆盖约 1 平方公里视野。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典型场景：广场态势感知监控、野生动物保护、海岸线监测。这些场景需要大范围加高细节，或者难以部署密集的相机网络。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分析结果必须同时满足低时延和高精度。</a:t>
            </a:r>
            <a:endParaRPr sz="1600" b="0">
              <a:latin typeface="微软雅黑"/>
              <a:ea typeface="微软雅黑"/>
            </a:endParaRPr>
          </a:p>
        </p:txBody>
      </p:sp>
      <p:pic>
        <p:nvPicPr>
          <p:cNvPr id="5058" name="Picture 5057" descr="fig1_ultra_hd_fra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3429000"/>
            <a:ext cx="4800600" cy="2240280"/>
          </a:xfrm>
          <a:prstGeom prst="rect">
            <a:avLst/>
          </a:prstGeom>
        </p:spPr>
      </p:pic>
      <p:sp>
        <p:nvSpPr>
          <p:cNvPr id="5059" name="TextBox 5058"/>
          <p:cNvSpPr txBox="1"/>
          <p:nvPr/>
        </p:nvSpPr>
        <p:spPr>
          <a:xfrm>
            <a:off x="1188720" y="5669280"/>
            <a:ext cx="6766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Fig. 1  阵列相机拍摄的超高清帧（PANDA 数据集）及不同放大倍率下的细节</a:t>
            </a:r>
            <a:endParaRPr sz="11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研究背景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056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057" name="TextBox 5056"/>
          <p:cNvSpPr txBox="1"/>
          <p:nvPr/>
        </p:nvSpPr>
        <p:spPr>
          <a:xfrm>
            <a:off x="502920" y="91440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Vision Transformer 的结构与代价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058" name="TextBox 5057"/>
          <p:cNvSpPr txBox="1"/>
          <p:nvPr/>
        </p:nvSpPr>
        <p:spPr>
          <a:xfrm>
            <a:off x="502920" y="1325880"/>
            <a:ext cx="4023360" cy="4572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ViT 在分类、检测、分割等任务上全面超过 CNN、RNN 等传统架构。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输入图像切成 P × P 的不重叠 patch，展平后线性投影，加上位置编码。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N 层 Transformer 编码器，每层由多头注意力（MHA）和多层感知机（MLP）组成。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MHA 中 QKᵀ 及其与 V 的乘法复杂度为 O(n²)，n 为 patch 数量。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分辨率越高 patch 越多，推理代价按平方增长，资源受限设备无法承受。</a:t>
            </a:r>
            <a:endParaRPr sz="1600" b="0">
              <a:latin typeface="微软雅黑"/>
              <a:ea typeface="微软雅黑"/>
            </a:endParaRPr>
          </a:p>
        </p:txBody>
      </p:sp>
      <p:pic>
        <p:nvPicPr>
          <p:cNvPr id="5059" name="Picture 5058" descr="fig2_vit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2170008"/>
            <a:ext cx="3977639" cy="2517982"/>
          </a:xfrm>
          <a:prstGeom prst="rect">
            <a:avLst/>
          </a:prstGeom>
        </p:spPr>
      </p:pic>
      <p:sp>
        <p:nvSpPr>
          <p:cNvPr id="5060" name="TextBox 5059"/>
          <p:cNvSpPr txBox="1"/>
          <p:nvPr/>
        </p:nvSpPr>
        <p:spPr>
          <a:xfrm>
            <a:off x="4663440" y="5486400"/>
            <a:ext cx="39776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Fig. 2  Vision Transformer 的典型架构</a:t>
            </a:r>
            <a:endParaRPr sz="11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研究背景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057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058" name="TextBox 5057"/>
          <p:cNvSpPr txBox="1"/>
          <p:nvPr/>
        </p:nvSpPr>
        <p:spPr>
          <a:xfrm>
            <a:off x="502920" y="91440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研究难点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059" name="TextBox 5058"/>
          <p:cNvSpPr txBox="1"/>
          <p:nvPr/>
        </p:nvSpPr>
        <p:spPr>
          <a:xfrm>
            <a:off x="502920" y="1325880"/>
            <a:ext cx="8138160" cy="46634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4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端侧算力不足：Jetson Orin Nano 运行全精度 ViTDet-Base 处理 1080 × 720 输入只有 0.46 FPS，超高清输入无法实时处理。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4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云端传输开销过大：示例帧 18 MB，在商用 5G 网络上传输需要 9.83 秒，通信时延远超实时要求。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4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系统层方案（Elf 等）以对象级或块级选取 ROI，用在 ViT 加超高清输入上时延退化严重。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4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模型层方案（注意力近似、层次化处理）需要修改架构，无法直接用于现成 ViT 和资源受限设备。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4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重度依赖云端的方案在网络间歇或断开时非常脆弱。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4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目标：设计高效、可推广到现成 ViT、可部署在资源受限环境的超高清视频分析系统。</a:t>
            </a:r>
            <a:endParaRPr sz="160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研究背景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058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059" name="TextBox 5058"/>
          <p:cNvSpPr txBox="1"/>
          <p:nvPr/>
        </p:nvSpPr>
        <p:spPr>
          <a:xfrm>
            <a:off x="502920" y="91440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现有方法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060" name="TextBox 5059"/>
          <p:cNvSpPr txBox="1"/>
          <p:nvPr/>
        </p:nvSpPr>
        <p:spPr>
          <a:xfrm>
            <a:off x="502920" y="1325880"/>
            <a:ext cx="8138160" cy="21945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模型层高分辨率推理加速：注意力近似（HRFormer、Multi-scale Vision Longformer、SparseViT）与层次化处理（Megabyte、CrossViT、十亿像素级层次自监督 ViT）。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系统层高分辨率推理加速：面向 CNN 的 Elf、Remix（MobiCom 2021）、FlexPatch（INFOCOM 2022）、AdaPyramid（TMC 2023）；面向 ViT 协同推理的 Janus（INFOCOM 2025）、DeViT（TMC 2023）、Galaxy（INFOCOM 2024）。</a:t>
            </a:r>
            <a:endParaRPr sz="1500" b="0">
              <a:latin typeface="微软雅黑"/>
              <a:ea typeface="微软雅黑"/>
            </a:endParaRPr>
          </a:p>
        </p:txBody>
      </p:sp>
      <p:sp>
        <p:nvSpPr>
          <p:cNvPr id="5061" name="TextBox 5060"/>
          <p:cNvSpPr txBox="1"/>
          <p:nvPr/>
        </p:nvSpPr>
        <p:spPr>
          <a:xfrm>
            <a:off x="502920" y="361188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存在问题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062" name="TextBox 5061"/>
          <p:cNvSpPr txBox="1"/>
          <p:nvPr/>
        </p:nvSpPr>
        <p:spPr>
          <a:xfrm>
            <a:off x="502920" y="4023360"/>
            <a:ext cx="8138160" cy="20116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模型层方案需要修改模型架构，与现成商用 ViT 不兼容，也没有考虑边缘设备的资源限制。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系统层方案的 ROI 粒度停留在对象级或块级，超高清场景下通信和计算开销远高于标准分辨率，现有 ViT 协同系统难以应对。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本文定位：首个针对现成 ViT 在超高清视频上做低时延云边协同推理的系统工作。</a:t>
            </a:r>
            <a:endParaRPr sz="150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59" name="组合 3"/>
          <p:cNvGrpSpPr/>
          <p:nvPr/>
        </p:nvGrpSpPr>
        <p:grpSpPr>
          <a:xfrm>
            <a:off x="2038350" y="1392238"/>
            <a:ext cx="5041900" cy="4197350"/>
            <a:chOff x="2038558" y="1293022"/>
            <a:chExt cx="5041692" cy="4198286"/>
          </a:xfrm>
        </p:grpSpPr>
        <p:grpSp>
          <p:nvGrpSpPr>
            <p:cNvPr id="5060" name="组合 1"/>
            <p:cNvGrpSpPr/>
            <p:nvPr/>
          </p:nvGrpSpPr>
          <p:grpSpPr>
            <a:xfrm>
              <a:off x="2051050" y="1293022"/>
              <a:ext cx="5029200" cy="3346449"/>
              <a:chOff x="2051050" y="1681166"/>
              <a:chExt cx="5029200" cy="3346449"/>
            </a:xfrm>
          </p:grpSpPr>
          <p:grpSp>
            <p:nvGrpSpPr>
              <p:cNvPr id="5061" name="组合 3"/>
              <p:cNvGrpSpPr/>
              <p:nvPr/>
            </p:nvGrpSpPr>
            <p:grpSpPr>
              <a:xfrm>
                <a:off x="2051050" y="3452816"/>
                <a:ext cx="5029200" cy="711201"/>
                <a:chOff x="2273300" y="3806828"/>
                <a:chExt cx="5029200" cy="711201"/>
              </a:xfrm>
            </p:grpSpPr>
            <p:grpSp>
              <p:nvGrpSpPr>
                <p:cNvPr id="5062" name="Group 99"/>
                <p:cNvGrpSpPr/>
                <p:nvPr/>
              </p:nvGrpSpPr>
              <p:grpSpPr>
                <a:xfrm>
                  <a:off x="2273300" y="3806828"/>
                  <a:ext cx="5029200" cy="711201"/>
                  <a:chOff x="1344" y="1568"/>
                  <a:chExt cx="2928" cy="448"/>
                </a:xfrm>
              </p:grpSpPr>
              <p:sp>
                <p:nvSpPr>
                  <p:cNvPr id="5063" name="Freeform 100"/>
                  <p:cNvSpPr/>
                  <p:nvPr/>
                </p:nvSpPr>
                <p:spPr>
                  <a:xfrm>
                    <a:off x="1440" y="1826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064" name="Rectangle 101"/>
                  <p:cNvSpPr/>
                  <p:nvPr/>
                </p:nvSpPr>
                <p:spPr>
                  <a:xfrm>
                    <a:off x="1344" y="1568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B1EFD0"/>
                      </a:gs>
                      <a:gs pos="100000">
                        <a:srgbClr val="77E3AD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065" name="Text Box 102"/>
                <p:cNvSpPr txBox="1">
                  <a:spLocks noChangeArrowheads="1"/>
                </p:cNvSpPr>
                <p:nvPr/>
              </p:nvSpPr>
              <p:spPr bwMode="gray">
                <a:xfrm>
                  <a:off x="2954517" y="3831040"/>
                  <a:ext cx="3641575" cy="519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3.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算法框架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066" name="组合 2"/>
              <p:cNvGrpSpPr/>
              <p:nvPr/>
            </p:nvGrpSpPr>
            <p:grpSpPr>
              <a:xfrm>
                <a:off x="2051050" y="2544767"/>
                <a:ext cx="5029200" cy="711201"/>
                <a:chOff x="2273300" y="3138492"/>
                <a:chExt cx="5029200" cy="711201"/>
              </a:xfrm>
            </p:grpSpPr>
            <p:grpSp>
              <p:nvGrpSpPr>
                <p:cNvPr id="5067" name="Group 103"/>
                <p:cNvGrpSpPr/>
                <p:nvPr/>
              </p:nvGrpSpPr>
              <p:grpSpPr>
                <a:xfrm>
                  <a:off x="2273300" y="3138492"/>
                  <a:ext cx="5029200" cy="711201"/>
                  <a:chOff x="1344" y="1691"/>
                  <a:chExt cx="2928" cy="448"/>
                </a:xfrm>
              </p:grpSpPr>
              <p:sp>
                <p:nvSpPr>
                  <p:cNvPr id="5068" name="Freeform 104"/>
                  <p:cNvSpPr/>
                  <p:nvPr/>
                </p:nvSpPr>
                <p:spPr>
                  <a:xfrm>
                    <a:off x="1440" y="1949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069" name="Rectangle 105"/>
                  <p:cNvSpPr/>
                  <p:nvPr/>
                </p:nvSpPr>
                <p:spPr>
                  <a:xfrm>
                    <a:off x="1344" y="1691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F6E1BD"/>
                      </a:gs>
                      <a:gs pos="100000">
                        <a:srgbClr val="EAB764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070" name="Text Box 106"/>
                <p:cNvSpPr txBox="1">
                  <a:spLocks noChangeArrowheads="1"/>
                </p:cNvSpPr>
                <p:nvPr/>
              </p:nvSpPr>
              <p:spPr bwMode="gray">
                <a:xfrm>
                  <a:off x="2919593" y="3176793"/>
                  <a:ext cx="3713009" cy="5192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2.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研究思路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071" name="组合 5"/>
              <p:cNvGrpSpPr/>
              <p:nvPr/>
            </p:nvGrpSpPr>
            <p:grpSpPr>
              <a:xfrm>
                <a:off x="2051050" y="1681166"/>
                <a:ext cx="5029200" cy="695326"/>
                <a:chOff x="2273300" y="2387603"/>
                <a:chExt cx="5029200" cy="695326"/>
              </a:xfrm>
            </p:grpSpPr>
            <p:grpSp>
              <p:nvGrpSpPr>
                <p:cNvPr id="5072" name="Group 107"/>
                <p:cNvGrpSpPr/>
                <p:nvPr/>
              </p:nvGrpSpPr>
              <p:grpSpPr>
                <a:xfrm>
                  <a:off x="2273300" y="2387603"/>
                  <a:ext cx="5029200" cy="695326"/>
                  <a:chOff x="1344" y="1842"/>
                  <a:chExt cx="2928" cy="438"/>
                </a:xfrm>
              </p:grpSpPr>
              <p:sp>
                <p:nvSpPr>
                  <p:cNvPr id="5073" name="Freeform 108"/>
                  <p:cNvSpPr/>
                  <p:nvPr/>
                </p:nvSpPr>
                <p:spPr>
                  <a:xfrm>
                    <a:off x="1440" y="2090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074" name="Rectangle 109"/>
                  <p:cNvSpPr/>
                  <p:nvPr/>
                </p:nvSpPr>
                <p:spPr>
                  <a:xfrm>
                    <a:off x="1344" y="1842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F7F4DD"/>
                      </a:gs>
                      <a:gs pos="100000">
                        <a:srgbClr val="DACB5E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075" name="Text Box 110"/>
                <p:cNvSpPr txBox="1"/>
                <p:nvPr/>
              </p:nvSpPr>
              <p:spPr>
                <a:xfrm>
                  <a:off x="3026686" y="2433859"/>
                  <a:ext cx="3497262" cy="5191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>
                  <a:spAutoFit/>
                </a:bodyPr>
                <a:p>
                  <a:pPr marL="0" lvl="0" indent="0" algn="ctr">
                    <a:spcBef>
                      <a:spcPct val="0"/>
                    </a:spcBef>
                    <a:buSzTx/>
                    <a:buNone/>
                  </a:pPr>
                  <a:r>
                    <a:rPr lang="en-US" altLang="zh-CN" sz="2800" b="1" dirty="0">
                      <a:solidFill>
                        <a:schemeClr val="bg1"/>
                      </a:solidFill>
                      <a:latin typeface="Times New Roman" panose="02020503050405090304" pitchFamily="18" charset="0"/>
                    </a:rPr>
                    <a:t>1. </a:t>
                  </a:r>
                  <a:r>
                    <a:rPr lang="zh-CN" altLang="en-US" sz="2800" b="1" dirty="0">
                      <a:solidFill>
                        <a:schemeClr val="bg1"/>
                      </a:solidFill>
                      <a:latin typeface="Times New Roman" panose="02020503050405090304" pitchFamily="18" charset="0"/>
                    </a:rPr>
                    <a:t>研究背景</a:t>
                  </a:r>
                  <a:endParaRPr lang="zh-CN" altLang="en-US" sz="2800" b="1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5076" name="组合 6"/>
              <p:cNvGrpSpPr/>
              <p:nvPr/>
            </p:nvGrpSpPr>
            <p:grpSpPr>
              <a:xfrm>
                <a:off x="2051050" y="4316414"/>
                <a:ext cx="5029200" cy="711201"/>
                <a:chOff x="2273300" y="4532314"/>
                <a:chExt cx="5029200" cy="711201"/>
              </a:xfrm>
            </p:grpSpPr>
            <p:grpSp>
              <p:nvGrpSpPr>
                <p:cNvPr id="5077" name="Group 111"/>
                <p:cNvGrpSpPr/>
                <p:nvPr/>
              </p:nvGrpSpPr>
              <p:grpSpPr>
                <a:xfrm>
                  <a:off x="2273300" y="4532314"/>
                  <a:ext cx="5029200" cy="711201"/>
                  <a:chOff x="1344" y="1417"/>
                  <a:chExt cx="2928" cy="448"/>
                </a:xfrm>
              </p:grpSpPr>
              <p:sp>
                <p:nvSpPr>
                  <p:cNvPr id="5078" name="Freeform 112"/>
                  <p:cNvSpPr/>
                  <p:nvPr/>
                </p:nvSpPr>
                <p:spPr>
                  <a:xfrm>
                    <a:off x="1440" y="1675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079" name="Rectangle 113"/>
                  <p:cNvSpPr/>
                  <p:nvPr/>
                </p:nvSpPr>
                <p:spPr>
                  <a:xfrm>
                    <a:off x="1344" y="1417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CDD6FE"/>
                      </a:gs>
                      <a:gs pos="100000">
                        <a:srgbClr val="9EB0FE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080" name="Text Box 114"/>
                <p:cNvSpPr txBox="1">
                  <a:spLocks noChangeArrowheads="1"/>
                </p:cNvSpPr>
                <p:nvPr/>
              </p:nvSpPr>
              <p:spPr bwMode="gray">
                <a:xfrm>
                  <a:off x="2967216" y="4591653"/>
                  <a:ext cx="3641575" cy="519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4.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实验结果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5081" name="组合 2"/>
            <p:cNvGrpSpPr/>
            <p:nvPr/>
          </p:nvGrpSpPr>
          <p:grpSpPr>
            <a:xfrm>
              <a:off x="2038558" y="4779921"/>
              <a:ext cx="5029018" cy="711387"/>
              <a:chOff x="2203450" y="666957"/>
              <a:chExt cx="5029018" cy="711387"/>
            </a:xfrm>
          </p:grpSpPr>
          <p:sp>
            <p:nvSpPr>
              <p:cNvPr id="5082" name="Freeform 108"/>
              <p:cNvSpPr/>
              <p:nvPr/>
            </p:nvSpPr>
            <p:spPr>
              <a:xfrm>
                <a:off x="2368342" y="1076719"/>
                <a:ext cx="4699416" cy="301625"/>
              </a:xfrm>
              <a:custGeom>
                <a:avLst/>
                <a:gdLst>
                  <a:gd name="txL" fmla="*/ 0 w 1120"/>
                  <a:gd name="txT" fmla="*/ 0 h 252"/>
                  <a:gd name="txR" fmla="*/ 1120 w 1120"/>
                  <a:gd name="txB" fmla="*/ 252 h 252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0" y="2147483646"/>
                  </a:cxn>
                  <a:cxn ang="0">
                    <a:pos x="0" y="2147483646"/>
                  </a:cxn>
                  <a:cxn ang="0">
                    <a:pos x="2147483646" y="0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1120" h="252">
                    <a:moveTo>
                      <a:pt x="1120" y="252"/>
                    </a:moveTo>
                    <a:lnTo>
                      <a:pt x="1116" y="250"/>
                    </a:lnTo>
                    <a:lnTo>
                      <a:pt x="1100" y="246"/>
                    </a:lnTo>
                    <a:lnTo>
                      <a:pt x="1074" y="240"/>
                    </a:lnTo>
                    <a:lnTo>
                      <a:pt x="1038" y="232"/>
                    </a:lnTo>
                    <a:lnTo>
                      <a:pt x="992" y="222"/>
                    </a:lnTo>
                    <a:lnTo>
                      <a:pt x="938" y="212"/>
                    </a:lnTo>
                    <a:lnTo>
                      <a:pt x="876" y="204"/>
                    </a:lnTo>
                    <a:lnTo>
                      <a:pt x="806" y="196"/>
                    </a:lnTo>
                    <a:lnTo>
                      <a:pt x="730" y="190"/>
                    </a:lnTo>
                    <a:lnTo>
                      <a:pt x="646" y="184"/>
                    </a:lnTo>
                    <a:lnTo>
                      <a:pt x="556" y="184"/>
                    </a:lnTo>
                    <a:lnTo>
                      <a:pt x="466" y="184"/>
                    </a:lnTo>
                    <a:lnTo>
                      <a:pt x="384" y="190"/>
                    </a:lnTo>
                    <a:lnTo>
                      <a:pt x="308" y="196"/>
                    </a:lnTo>
                    <a:lnTo>
                      <a:pt x="238" y="204"/>
                    </a:lnTo>
                    <a:lnTo>
                      <a:pt x="178" y="212"/>
                    </a:lnTo>
                    <a:lnTo>
                      <a:pt x="126" y="222"/>
                    </a:lnTo>
                    <a:lnTo>
                      <a:pt x="82" y="232"/>
                    </a:lnTo>
                    <a:lnTo>
                      <a:pt x="46" y="240"/>
                    </a:lnTo>
                    <a:lnTo>
                      <a:pt x="20" y="246"/>
                    </a:lnTo>
                    <a:lnTo>
                      <a:pt x="6" y="250"/>
                    </a:lnTo>
                    <a:lnTo>
                      <a:pt x="0" y="252"/>
                    </a:lnTo>
                    <a:lnTo>
                      <a:pt x="0" y="62"/>
                    </a:lnTo>
                    <a:lnTo>
                      <a:pt x="560" y="0"/>
                    </a:lnTo>
                    <a:lnTo>
                      <a:pt x="1120" y="62"/>
                    </a:lnTo>
                    <a:lnTo>
                      <a:pt x="1120" y="252"/>
                    </a:lnTo>
                    <a:close/>
                  </a:path>
                </a:pathLst>
              </a:custGeom>
              <a:solidFill>
                <a:srgbClr val="808080">
                  <a:alpha val="100000"/>
                </a:srgbClr>
              </a:solidFill>
              <a:ln w="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083" name="Rectangle 109"/>
              <p:cNvSpPr>
                <a:spLocks noChangeArrowheads="1"/>
              </p:cNvSpPr>
              <p:nvPr/>
            </p:nvSpPr>
            <p:spPr bwMode="gray">
              <a:xfrm>
                <a:off x="2203450" y="666985"/>
                <a:ext cx="5028993" cy="624026"/>
              </a:xfrm>
              <a:prstGeom prst="rect">
                <a:avLst/>
              </a:prstGeom>
              <a:gradFill rotWithShape="1">
                <a:gsLst>
                  <a:gs pos="98000">
                    <a:schemeClr val="accent2">
                      <a:lumMod val="20000"/>
                      <a:lumOff val="80000"/>
                    </a:schemeClr>
                  </a:gs>
                  <a:gs pos="100000">
                    <a:srgbClr val="DACB5E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84" name="Text Box 110"/>
              <p:cNvSpPr txBox="1">
                <a:spLocks noChangeArrowheads="1"/>
              </p:cNvSpPr>
              <p:nvPr/>
            </p:nvSpPr>
            <p:spPr bwMode="gray">
              <a:xfrm>
                <a:off x="2649520" y="751141"/>
                <a:ext cx="3497118" cy="519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>
                <a:spAutoFit/>
              </a:bodyPr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rPr>
                  <a:t>5. </a:t>
                </a: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rPr>
                  <a:t>总结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5085" name="TextBox 5084"/>
          <p:cNvSpPr txBox="1"/>
          <p:nvPr/>
        </p:nvSpPr>
        <p:spPr>
          <a:xfrm>
            <a:off x="6894576" y="9144"/>
            <a:ext cx="100584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chemeClr val="bg1"/>
                </a:solidFill>
                <a:latin typeface="Times New Roman" panose="02020503050405090304"/>
                <a:ea typeface="微软雅黑"/>
              </a:rPr>
              <a:t>提纲</a:t>
            </a:r>
            <a:endParaRPr sz="3200" b="1">
              <a:solidFill>
                <a:schemeClr val="bg1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2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研究思路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086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087" name="TextBox 5086"/>
          <p:cNvSpPr txBox="1"/>
          <p:nvPr/>
        </p:nvSpPr>
        <p:spPr>
          <a:xfrm>
            <a:off x="502920" y="91440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动机实验设置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088" name="TextBox 5087"/>
          <p:cNvSpPr txBox="1"/>
          <p:nvPr/>
        </p:nvSpPr>
        <p:spPr>
          <a:xfrm>
            <a:off x="502920" y="1325880"/>
            <a:ext cx="4114800" cy="4572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数据集：PANDA 监控视频下采样到 3840 × 2160，场景为广场、操场等大范围环境。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模型：ViTDet-Base，目标检测任务。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重要性分数：把注意力权重在输出特征层的全部头和层上取平均，得到每个 patch 的分数。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用 Jenks 自然断点法把连续分数分为 3 类，Class 0 最不重要，Class 2 最重要。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右图中目标区域（飞机）的重要性分数明显高于背景。</a:t>
            </a:r>
            <a:endParaRPr sz="1600" b="0">
              <a:latin typeface="微软雅黑"/>
              <a:ea typeface="微软雅黑"/>
            </a:endParaRPr>
          </a:p>
        </p:txBody>
      </p:sp>
      <p:pic>
        <p:nvPicPr>
          <p:cNvPr id="5089" name="Picture 5088" descr="fig3a_input_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4763" y="1371600"/>
            <a:ext cx="3046432" cy="1851660"/>
          </a:xfrm>
          <a:prstGeom prst="rect">
            <a:avLst/>
          </a:prstGeom>
        </p:spPr>
      </p:pic>
      <p:sp>
        <p:nvSpPr>
          <p:cNvPr id="5090" name="TextBox 5089"/>
          <p:cNvSpPr txBox="1"/>
          <p:nvPr/>
        </p:nvSpPr>
        <p:spPr>
          <a:xfrm>
            <a:off x="4754880" y="3223260"/>
            <a:ext cx="3886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Fig. 3(a)  输入图像示例</a:t>
            </a:r>
            <a:endParaRPr sz="11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pic>
        <p:nvPicPr>
          <p:cNvPr id="5091" name="Picture 5090" descr="fig3b_importa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263" y="3726180"/>
            <a:ext cx="3681432" cy="1851660"/>
          </a:xfrm>
          <a:prstGeom prst="rect">
            <a:avLst/>
          </a:prstGeom>
        </p:spPr>
      </p:pic>
      <p:sp>
        <p:nvSpPr>
          <p:cNvPr id="5092" name="TextBox 5091"/>
          <p:cNvSpPr txBox="1"/>
          <p:nvPr/>
        </p:nvSpPr>
        <p:spPr>
          <a:xfrm>
            <a:off x="4754880" y="5577840"/>
            <a:ext cx="3886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Fig. 3(b)  patch 重要性热力图</a:t>
            </a:r>
            <a:endParaRPr sz="11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研究思路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087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088" name="TextBox 5087"/>
          <p:cNvSpPr txBox="1"/>
          <p:nvPr/>
        </p:nvSpPr>
        <p:spPr>
          <a:xfrm>
            <a:off x="502920" y="914400"/>
            <a:ext cx="73152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观察 1：不同尺寸目标的推理难度差异很大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089" name="TextBox 5088"/>
          <p:cNvSpPr txBox="1"/>
          <p:nvPr/>
        </p:nvSpPr>
        <p:spPr>
          <a:xfrm>
            <a:off x="502920" y="1325880"/>
            <a:ext cx="8138160" cy="1371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ViTDet-Base（1.11 亿参数）小目标 mAP 1.97%，大目标 12.19%；换 ViTDet-Large（3.31 亿参数）后小目标提升约 23%，大目标提升不到 4%。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启发：大目标交给端侧小模型，只把小目标区域卸载到云端大模型。</a:t>
            </a:r>
            <a:endParaRPr sz="1500" b="0">
              <a:latin typeface="微软雅黑"/>
              <a:ea typeface="微软雅黑"/>
            </a:endParaRPr>
          </a:p>
        </p:txBody>
      </p:sp>
      <p:sp>
        <p:nvSpPr>
          <p:cNvPr id="5090" name="TextBox 5089"/>
          <p:cNvSpPr txBox="1"/>
          <p:nvPr/>
        </p:nvSpPr>
        <p:spPr>
          <a:xfrm>
            <a:off x="502920" y="2743200"/>
            <a:ext cx="73152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观察 2：帧内重要性分数的分布高度偏斜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091" name="TextBox 5090"/>
          <p:cNvSpPr txBox="1"/>
          <p:nvPr/>
        </p:nvSpPr>
        <p:spPr>
          <a:xfrm>
            <a:off x="502920" y="3154680"/>
            <a:ext cx="4206240" cy="2834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University Playground 场景 74.74% 的 patch 属于 Class 0，主要对应背景。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对 Class 0 做 4 倍下采样，带宽消耗降低 53.33%，精度没有下降。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启发：低重要性 patch 以低质量传输即可。</a:t>
            </a:r>
            <a:endParaRPr sz="1500" b="0">
              <a:latin typeface="微软雅黑"/>
              <a:ea typeface="微软雅黑"/>
            </a:endParaRPr>
          </a:p>
        </p:txBody>
      </p:sp>
      <p:pic>
        <p:nvPicPr>
          <p:cNvPr id="5092" name="Picture 5091" descr="fig4a_frame_class_cd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3624282"/>
            <a:ext cx="1851660" cy="1483954"/>
          </a:xfrm>
          <a:prstGeom prst="rect">
            <a:avLst/>
          </a:prstGeom>
        </p:spPr>
      </p:pic>
      <p:sp>
        <p:nvSpPr>
          <p:cNvPr id="5093" name="TextBox 5092"/>
          <p:cNvSpPr txBox="1"/>
          <p:nvPr/>
        </p:nvSpPr>
        <p:spPr>
          <a:xfrm>
            <a:off x="4800600" y="5623560"/>
            <a:ext cx="18516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Fig. 4(a)  帧内各类别 CDF</a:t>
            </a:r>
            <a:endParaRPr sz="11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pic>
        <p:nvPicPr>
          <p:cNvPr id="5094" name="Picture 5093" descr="fig4b_frame_bandwidth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3637949"/>
            <a:ext cx="1851660" cy="1456621"/>
          </a:xfrm>
          <a:prstGeom prst="rect">
            <a:avLst/>
          </a:prstGeom>
        </p:spPr>
      </p:pic>
      <p:sp>
        <p:nvSpPr>
          <p:cNvPr id="5095" name="TextBox 5094"/>
          <p:cNvSpPr txBox="1"/>
          <p:nvPr/>
        </p:nvSpPr>
        <p:spPr>
          <a:xfrm>
            <a:off x="6789420" y="5623560"/>
            <a:ext cx="18516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Fig. 4(b)  下采样率与带宽、精度</a:t>
            </a:r>
            <a:endParaRPr sz="11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研究思路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088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089" name="TextBox 5088"/>
          <p:cNvSpPr txBox="1"/>
          <p:nvPr/>
        </p:nvSpPr>
        <p:spPr>
          <a:xfrm>
            <a:off x="502920" y="914400"/>
            <a:ext cx="73152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观察 3：ViT 对目标区域完整性不敏感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090" name="TextBox 5089"/>
          <p:cNvSpPr txBox="1"/>
          <p:nvPr/>
        </p:nvSpPr>
        <p:spPr>
          <a:xfrm>
            <a:off x="502920" y="1325880"/>
            <a:ext cx="8138160" cy="21945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用真实标注框统计目标区域内各重要性类别的占比：最重要的 Class 2 不到目标区域的一半，仍有 9.71% 的目标区域属于 Class 0。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目标内部的 patch 对预测的贡献并不均等，按对象整体传输存在冗余。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在目标内部对 Class 1 做 2 倍下采样（Class 0 固定 4 倍），相比对象级 ROI 传输带宽再降 40.43%，精度无损。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启发：patch 级重要性感知的自适应传输比对象级 ROI 更高效。</a:t>
            </a:r>
            <a:endParaRPr sz="1500" b="0">
              <a:latin typeface="微软雅黑"/>
              <a:ea typeface="微软雅黑"/>
            </a:endParaRPr>
          </a:p>
        </p:txBody>
      </p:sp>
      <p:pic>
        <p:nvPicPr>
          <p:cNvPr id="5091" name="Picture 5090" descr="fig5a_object_class_propor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8392" y="3611880"/>
            <a:ext cx="2523914" cy="2057400"/>
          </a:xfrm>
          <a:prstGeom prst="rect">
            <a:avLst/>
          </a:prstGeom>
        </p:spPr>
      </p:pic>
      <p:sp>
        <p:nvSpPr>
          <p:cNvPr id="5092" name="TextBox 5091"/>
          <p:cNvSpPr txBox="1"/>
          <p:nvPr/>
        </p:nvSpPr>
        <p:spPr>
          <a:xfrm>
            <a:off x="1097280" y="5669280"/>
            <a:ext cx="34061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Fig. 5(a)  目标区域内各类别占比</a:t>
            </a:r>
            <a:endParaRPr sz="11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pic>
        <p:nvPicPr>
          <p:cNvPr id="5093" name="Picture 5092" descr="fig5b_object_bandwidth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964" y="3611880"/>
            <a:ext cx="2615371" cy="2057400"/>
          </a:xfrm>
          <a:prstGeom prst="rect">
            <a:avLst/>
          </a:prstGeom>
        </p:spPr>
      </p:pic>
      <p:sp>
        <p:nvSpPr>
          <p:cNvPr id="5094" name="TextBox 5093"/>
          <p:cNvSpPr txBox="1"/>
          <p:nvPr/>
        </p:nvSpPr>
        <p:spPr>
          <a:xfrm>
            <a:off x="4640580" y="5669280"/>
            <a:ext cx="34061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Fig. 5(b)  目标内下采样率与带宽、精度</a:t>
            </a:r>
            <a:endParaRPr sz="11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研究思路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089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090" name="TextBox 5089"/>
          <p:cNvSpPr txBox="1"/>
          <p:nvPr/>
        </p:nvSpPr>
        <p:spPr>
          <a:xfrm>
            <a:off x="502920" y="91440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本文思路：从 ROI 到 POI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091" name="TextBox 5090"/>
          <p:cNvSpPr txBox="1"/>
          <p:nvPr/>
        </p:nvSpPr>
        <p:spPr>
          <a:xfrm>
            <a:off x="502920" y="1371600"/>
            <a:ext cx="8138160" cy="4572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50000"/>
              </a:lnSpc>
            </a:pPr>
            <a:r>
              <a:rPr sz="1700" b="1">
                <a:latin typeface="微软雅黑"/>
                <a:ea typeface="微软雅黑"/>
              </a:rPr>
              <a:t>· </a:t>
            </a:r>
            <a:r>
              <a:rPr sz="1700" b="0">
                <a:latin typeface="微软雅黑"/>
                <a:ea typeface="微软雅黑"/>
              </a:rPr>
              <a:t>ViT 本身就把图像切成 patch，为系统优化提供了模型原生的细粒度单元。</a:t>
            </a:r>
            <a:endParaRPr sz="1700" b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sz="1700" b="1">
                <a:latin typeface="微软雅黑"/>
                <a:ea typeface="微软雅黑"/>
              </a:rPr>
              <a:t>· </a:t>
            </a:r>
            <a:r>
              <a:rPr sz="1700" b="0">
                <a:latin typeface="微软雅黑"/>
                <a:ea typeface="微软雅黑"/>
              </a:rPr>
              <a:t>把传统粗粒度 ROI（Region of Interest）推广为细粒度 POI（Patch of Interest），使系统优化粒度与 ViT 计算模型一致。</a:t>
            </a:r>
            <a:endParaRPr sz="1700" b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sz="1700" b="1">
                <a:latin typeface="微软雅黑"/>
                <a:ea typeface="微软雅黑"/>
              </a:rPr>
              <a:t>· </a:t>
            </a:r>
            <a:r>
              <a:rPr sz="1700" b="0">
                <a:latin typeface="微软雅黑"/>
                <a:ea typeface="微软雅黑"/>
              </a:rPr>
              <a:t>同时利用两个维度的信息：ViT 内部的注意力分数，以及云边协同架构中端侧与云侧的性能差距。</a:t>
            </a:r>
            <a:endParaRPr sz="1700" b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sz="1700" b="1">
                <a:latin typeface="微软雅黑"/>
                <a:ea typeface="微软雅黑"/>
              </a:rPr>
              <a:t>· </a:t>
            </a:r>
            <a:r>
              <a:rPr sz="1700" b="0">
                <a:latin typeface="微软雅黑"/>
                <a:ea typeface="微软雅黑"/>
              </a:rPr>
              <a:t>对低重要性 patch 降低传输质量，保留背景上下文和目标间语义关系。</a:t>
            </a:r>
            <a:endParaRPr sz="1700" b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sz="1700" b="1">
                <a:latin typeface="微软雅黑"/>
                <a:ea typeface="微软雅黑"/>
              </a:rPr>
              <a:t>· </a:t>
            </a:r>
            <a:r>
              <a:rPr sz="1700" b="0">
                <a:latin typeface="微软雅黑"/>
                <a:ea typeface="微软雅黑"/>
              </a:rPr>
              <a:t>把"卸载哪些 patch、以什么质量卸载"建模为时延约束下的精度最大化问题，用动态规划求最优解。</a:t>
            </a:r>
            <a:endParaRPr sz="1700" b="0"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sz="1700" b="1">
                <a:latin typeface="微软雅黑"/>
                <a:ea typeface="微软雅黑"/>
              </a:rPr>
              <a:t>· </a:t>
            </a:r>
            <a:r>
              <a:rPr sz="1700" b="0">
                <a:latin typeface="微软雅黑"/>
                <a:ea typeface="微软雅黑"/>
              </a:rPr>
              <a:t>端侧小 ViT 在网络退化时提供基线预测，保证系统响应性和可靠性。</a:t>
            </a:r>
            <a:endParaRPr sz="170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90" name="组合 3"/>
          <p:cNvGrpSpPr/>
          <p:nvPr/>
        </p:nvGrpSpPr>
        <p:grpSpPr>
          <a:xfrm>
            <a:off x="2038350" y="1392238"/>
            <a:ext cx="5041900" cy="4197350"/>
            <a:chOff x="2038558" y="1293022"/>
            <a:chExt cx="5041692" cy="4198286"/>
          </a:xfrm>
        </p:grpSpPr>
        <p:grpSp>
          <p:nvGrpSpPr>
            <p:cNvPr id="5091" name="组合 1"/>
            <p:cNvGrpSpPr/>
            <p:nvPr/>
          </p:nvGrpSpPr>
          <p:grpSpPr>
            <a:xfrm>
              <a:off x="2051050" y="1293022"/>
              <a:ext cx="5029200" cy="3346449"/>
              <a:chOff x="2051050" y="1681166"/>
              <a:chExt cx="5029200" cy="3346449"/>
            </a:xfrm>
          </p:grpSpPr>
          <p:grpSp>
            <p:nvGrpSpPr>
              <p:cNvPr id="5092" name="组合 3"/>
              <p:cNvGrpSpPr/>
              <p:nvPr/>
            </p:nvGrpSpPr>
            <p:grpSpPr>
              <a:xfrm>
                <a:off x="2051050" y="3452816"/>
                <a:ext cx="5029200" cy="711201"/>
                <a:chOff x="2273300" y="3806828"/>
                <a:chExt cx="5029200" cy="711201"/>
              </a:xfrm>
            </p:grpSpPr>
            <p:grpSp>
              <p:nvGrpSpPr>
                <p:cNvPr id="5093" name="Group 99"/>
                <p:cNvGrpSpPr/>
                <p:nvPr/>
              </p:nvGrpSpPr>
              <p:grpSpPr>
                <a:xfrm>
                  <a:off x="2273300" y="3806828"/>
                  <a:ext cx="5029200" cy="711201"/>
                  <a:chOff x="1344" y="1568"/>
                  <a:chExt cx="2928" cy="448"/>
                </a:xfrm>
              </p:grpSpPr>
              <p:sp>
                <p:nvSpPr>
                  <p:cNvPr id="5094" name="Freeform 100"/>
                  <p:cNvSpPr/>
                  <p:nvPr/>
                </p:nvSpPr>
                <p:spPr>
                  <a:xfrm>
                    <a:off x="1440" y="1826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095" name="Rectangle 101"/>
                  <p:cNvSpPr/>
                  <p:nvPr/>
                </p:nvSpPr>
                <p:spPr>
                  <a:xfrm>
                    <a:off x="1344" y="1568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B1EFD0"/>
                      </a:gs>
                      <a:gs pos="100000">
                        <a:srgbClr val="77E3AD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096" name="Text Box 102"/>
                <p:cNvSpPr txBox="1">
                  <a:spLocks noChangeArrowheads="1"/>
                </p:cNvSpPr>
                <p:nvPr/>
              </p:nvSpPr>
              <p:spPr bwMode="gray">
                <a:xfrm>
                  <a:off x="2954517" y="3831040"/>
                  <a:ext cx="3641575" cy="519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3.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算法框架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097" name="组合 2"/>
              <p:cNvGrpSpPr/>
              <p:nvPr/>
            </p:nvGrpSpPr>
            <p:grpSpPr>
              <a:xfrm>
                <a:off x="2051050" y="2544767"/>
                <a:ext cx="5029200" cy="711201"/>
                <a:chOff x="2273300" y="3138492"/>
                <a:chExt cx="5029200" cy="711201"/>
              </a:xfrm>
            </p:grpSpPr>
            <p:grpSp>
              <p:nvGrpSpPr>
                <p:cNvPr id="5098" name="Group 103"/>
                <p:cNvGrpSpPr/>
                <p:nvPr/>
              </p:nvGrpSpPr>
              <p:grpSpPr>
                <a:xfrm>
                  <a:off x="2273300" y="3138492"/>
                  <a:ext cx="5029200" cy="711201"/>
                  <a:chOff x="1344" y="1691"/>
                  <a:chExt cx="2928" cy="448"/>
                </a:xfrm>
              </p:grpSpPr>
              <p:sp>
                <p:nvSpPr>
                  <p:cNvPr id="5099" name="Freeform 104"/>
                  <p:cNvSpPr/>
                  <p:nvPr/>
                </p:nvSpPr>
                <p:spPr>
                  <a:xfrm>
                    <a:off x="1440" y="1949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100" name="Rectangle 105"/>
                  <p:cNvSpPr/>
                  <p:nvPr/>
                </p:nvSpPr>
                <p:spPr>
                  <a:xfrm>
                    <a:off x="1344" y="1691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F6E1BD"/>
                      </a:gs>
                      <a:gs pos="100000">
                        <a:srgbClr val="EAB764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101" name="Text Box 106"/>
                <p:cNvSpPr txBox="1">
                  <a:spLocks noChangeArrowheads="1"/>
                </p:cNvSpPr>
                <p:nvPr/>
              </p:nvSpPr>
              <p:spPr bwMode="gray">
                <a:xfrm>
                  <a:off x="2919593" y="3176793"/>
                  <a:ext cx="3713009" cy="5192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2.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研究思路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102" name="组合 5"/>
              <p:cNvGrpSpPr/>
              <p:nvPr/>
            </p:nvGrpSpPr>
            <p:grpSpPr>
              <a:xfrm>
                <a:off x="2051050" y="1681166"/>
                <a:ext cx="5029200" cy="695326"/>
                <a:chOff x="2273300" y="2387603"/>
                <a:chExt cx="5029200" cy="695326"/>
              </a:xfrm>
            </p:grpSpPr>
            <p:grpSp>
              <p:nvGrpSpPr>
                <p:cNvPr id="5103" name="Group 107"/>
                <p:cNvGrpSpPr/>
                <p:nvPr/>
              </p:nvGrpSpPr>
              <p:grpSpPr>
                <a:xfrm>
                  <a:off x="2273300" y="2387603"/>
                  <a:ext cx="5029200" cy="695326"/>
                  <a:chOff x="1344" y="1842"/>
                  <a:chExt cx="2928" cy="438"/>
                </a:xfrm>
              </p:grpSpPr>
              <p:sp>
                <p:nvSpPr>
                  <p:cNvPr id="5104" name="Freeform 108"/>
                  <p:cNvSpPr/>
                  <p:nvPr/>
                </p:nvSpPr>
                <p:spPr>
                  <a:xfrm>
                    <a:off x="1440" y="2090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105" name="Rectangle 109"/>
                  <p:cNvSpPr/>
                  <p:nvPr/>
                </p:nvSpPr>
                <p:spPr>
                  <a:xfrm>
                    <a:off x="1344" y="1842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F7F4DD"/>
                      </a:gs>
                      <a:gs pos="100000">
                        <a:srgbClr val="DACB5E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106" name="Text Box 110"/>
                <p:cNvSpPr txBox="1"/>
                <p:nvPr/>
              </p:nvSpPr>
              <p:spPr>
                <a:xfrm>
                  <a:off x="3026686" y="2433859"/>
                  <a:ext cx="3497262" cy="5191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>
                  <a:spAutoFit/>
                </a:bodyPr>
                <a:p>
                  <a:pPr marL="0" lvl="0" indent="0" algn="ctr">
                    <a:spcBef>
                      <a:spcPct val="0"/>
                    </a:spcBef>
                    <a:buSzTx/>
                    <a:buNone/>
                  </a:pPr>
                  <a:r>
                    <a:rPr lang="en-US" altLang="zh-CN" sz="2800" b="1" dirty="0">
                      <a:solidFill>
                        <a:schemeClr val="bg1"/>
                      </a:solidFill>
                      <a:latin typeface="Times New Roman" panose="02020503050405090304" pitchFamily="18" charset="0"/>
                    </a:rPr>
                    <a:t>1. </a:t>
                  </a:r>
                  <a:r>
                    <a:rPr lang="zh-CN" altLang="en-US" sz="2800" b="1" dirty="0">
                      <a:solidFill>
                        <a:schemeClr val="bg1"/>
                      </a:solidFill>
                      <a:latin typeface="Times New Roman" panose="02020503050405090304" pitchFamily="18" charset="0"/>
                    </a:rPr>
                    <a:t>研究背景</a:t>
                  </a:r>
                  <a:endParaRPr lang="zh-CN" altLang="en-US" sz="2800" b="1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5107" name="组合 6"/>
              <p:cNvGrpSpPr/>
              <p:nvPr/>
            </p:nvGrpSpPr>
            <p:grpSpPr>
              <a:xfrm>
                <a:off x="2051050" y="4316414"/>
                <a:ext cx="5029200" cy="711201"/>
                <a:chOff x="2273300" y="4532314"/>
                <a:chExt cx="5029200" cy="711201"/>
              </a:xfrm>
            </p:grpSpPr>
            <p:grpSp>
              <p:nvGrpSpPr>
                <p:cNvPr id="5108" name="Group 111"/>
                <p:cNvGrpSpPr/>
                <p:nvPr/>
              </p:nvGrpSpPr>
              <p:grpSpPr>
                <a:xfrm>
                  <a:off x="2273300" y="4532314"/>
                  <a:ext cx="5029200" cy="711201"/>
                  <a:chOff x="1344" y="1417"/>
                  <a:chExt cx="2928" cy="448"/>
                </a:xfrm>
              </p:grpSpPr>
              <p:sp>
                <p:nvSpPr>
                  <p:cNvPr id="5109" name="Freeform 112"/>
                  <p:cNvSpPr/>
                  <p:nvPr/>
                </p:nvSpPr>
                <p:spPr>
                  <a:xfrm>
                    <a:off x="1440" y="1675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110" name="Rectangle 113"/>
                  <p:cNvSpPr/>
                  <p:nvPr/>
                </p:nvSpPr>
                <p:spPr>
                  <a:xfrm>
                    <a:off x="1344" y="1417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CDD6FE"/>
                      </a:gs>
                      <a:gs pos="100000">
                        <a:srgbClr val="9EB0FE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111" name="Text Box 114"/>
                <p:cNvSpPr txBox="1">
                  <a:spLocks noChangeArrowheads="1"/>
                </p:cNvSpPr>
                <p:nvPr/>
              </p:nvSpPr>
              <p:spPr bwMode="gray">
                <a:xfrm>
                  <a:off x="2967216" y="4591653"/>
                  <a:ext cx="3641575" cy="519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4.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实验结果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5112" name="组合 2"/>
            <p:cNvGrpSpPr/>
            <p:nvPr/>
          </p:nvGrpSpPr>
          <p:grpSpPr>
            <a:xfrm>
              <a:off x="2038558" y="4779921"/>
              <a:ext cx="5029018" cy="711387"/>
              <a:chOff x="2203450" y="666957"/>
              <a:chExt cx="5029018" cy="711387"/>
            </a:xfrm>
          </p:grpSpPr>
          <p:sp>
            <p:nvSpPr>
              <p:cNvPr id="5113" name="Freeform 108"/>
              <p:cNvSpPr/>
              <p:nvPr/>
            </p:nvSpPr>
            <p:spPr>
              <a:xfrm>
                <a:off x="2368342" y="1076719"/>
                <a:ext cx="4699416" cy="301625"/>
              </a:xfrm>
              <a:custGeom>
                <a:avLst/>
                <a:gdLst>
                  <a:gd name="txL" fmla="*/ 0 w 1120"/>
                  <a:gd name="txT" fmla="*/ 0 h 252"/>
                  <a:gd name="txR" fmla="*/ 1120 w 1120"/>
                  <a:gd name="txB" fmla="*/ 252 h 252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0" y="2147483646"/>
                  </a:cxn>
                  <a:cxn ang="0">
                    <a:pos x="0" y="2147483646"/>
                  </a:cxn>
                  <a:cxn ang="0">
                    <a:pos x="2147483646" y="0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1120" h="252">
                    <a:moveTo>
                      <a:pt x="1120" y="252"/>
                    </a:moveTo>
                    <a:lnTo>
                      <a:pt x="1116" y="250"/>
                    </a:lnTo>
                    <a:lnTo>
                      <a:pt x="1100" y="246"/>
                    </a:lnTo>
                    <a:lnTo>
                      <a:pt x="1074" y="240"/>
                    </a:lnTo>
                    <a:lnTo>
                      <a:pt x="1038" y="232"/>
                    </a:lnTo>
                    <a:lnTo>
                      <a:pt x="992" y="222"/>
                    </a:lnTo>
                    <a:lnTo>
                      <a:pt x="938" y="212"/>
                    </a:lnTo>
                    <a:lnTo>
                      <a:pt x="876" y="204"/>
                    </a:lnTo>
                    <a:lnTo>
                      <a:pt x="806" y="196"/>
                    </a:lnTo>
                    <a:lnTo>
                      <a:pt x="730" y="190"/>
                    </a:lnTo>
                    <a:lnTo>
                      <a:pt x="646" y="184"/>
                    </a:lnTo>
                    <a:lnTo>
                      <a:pt x="556" y="184"/>
                    </a:lnTo>
                    <a:lnTo>
                      <a:pt x="466" y="184"/>
                    </a:lnTo>
                    <a:lnTo>
                      <a:pt x="384" y="190"/>
                    </a:lnTo>
                    <a:lnTo>
                      <a:pt x="308" y="196"/>
                    </a:lnTo>
                    <a:lnTo>
                      <a:pt x="238" y="204"/>
                    </a:lnTo>
                    <a:lnTo>
                      <a:pt x="178" y="212"/>
                    </a:lnTo>
                    <a:lnTo>
                      <a:pt x="126" y="222"/>
                    </a:lnTo>
                    <a:lnTo>
                      <a:pt x="82" y="232"/>
                    </a:lnTo>
                    <a:lnTo>
                      <a:pt x="46" y="240"/>
                    </a:lnTo>
                    <a:lnTo>
                      <a:pt x="20" y="246"/>
                    </a:lnTo>
                    <a:lnTo>
                      <a:pt x="6" y="250"/>
                    </a:lnTo>
                    <a:lnTo>
                      <a:pt x="0" y="252"/>
                    </a:lnTo>
                    <a:lnTo>
                      <a:pt x="0" y="62"/>
                    </a:lnTo>
                    <a:lnTo>
                      <a:pt x="560" y="0"/>
                    </a:lnTo>
                    <a:lnTo>
                      <a:pt x="1120" y="62"/>
                    </a:lnTo>
                    <a:lnTo>
                      <a:pt x="1120" y="252"/>
                    </a:lnTo>
                    <a:close/>
                  </a:path>
                </a:pathLst>
              </a:custGeom>
              <a:solidFill>
                <a:srgbClr val="808080">
                  <a:alpha val="100000"/>
                </a:srgbClr>
              </a:solidFill>
              <a:ln w="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14" name="Rectangle 109"/>
              <p:cNvSpPr>
                <a:spLocks noChangeArrowheads="1"/>
              </p:cNvSpPr>
              <p:nvPr/>
            </p:nvSpPr>
            <p:spPr bwMode="gray">
              <a:xfrm>
                <a:off x="2203450" y="666985"/>
                <a:ext cx="5028993" cy="624026"/>
              </a:xfrm>
              <a:prstGeom prst="rect">
                <a:avLst/>
              </a:prstGeom>
              <a:gradFill rotWithShape="1">
                <a:gsLst>
                  <a:gs pos="98000">
                    <a:schemeClr val="accent2">
                      <a:lumMod val="20000"/>
                      <a:lumOff val="80000"/>
                    </a:schemeClr>
                  </a:gs>
                  <a:gs pos="100000">
                    <a:srgbClr val="DACB5E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15" name="Text Box 110"/>
              <p:cNvSpPr txBox="1">
                <a:spLocks noChangeArrowheads="1"/>
              </p:cNvSpPr>
              <p:nvPr/>
            </p:nvSpPr>
            <p:spPr bwMode="gray">
              <a:xfrm>
                <a:off x="2649520" y="751141"/>
                <a:ext cx="3497118" cy="519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>
                <a:spAutoFit/>
              </a:bodyPr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rPr>
                  <a:t>5. </a:t>
                </a: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rPr>
                  <a:t>总结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5116" name="TextBox 5115"/>
          <p:cNvSpPr txBox="1"/>
          <p:nvPr/>
        </p:nvSpPr>
        <p:spPr>
          <a:xfrm>
            <a:off x="6894576" y="9144"/>
            <a:ext cx="100584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chemeClr val="bg1"/>
                </a:solidFill>
                <a:latin typeface="Times New Roman" panose="02020503050405090304"/>
                <a:ea typeface="微软雅黑"/>
              </a:rPr>
              <a:t>提纲</a:t>
            </a:r>
            <a:endParaRPr sz="3200" b="1">
              <a:solidFill>
                <a:schemeClr val="bg1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2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算法框架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117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118" name="TextBox 5117"/>
          <p:cNvSpPr txBox="1"/>
          <p:nvPr/>
        </p:nvSpPr>
        <p:spPr>
          <a:xfrm>
            <a:off x="502920" y="91440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整体框架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pic>
        <p:nvPicPr>
          <p:cNvPr id="5119" name="Picture 5118" descr="fig6_system_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93" y="1371600"/>
            <a:ext cx="7223613" cy="2834640"/>
          </a:xfrm>
          <a:prstGeom prst="rect">
            <a:avLst/>
          </a:prstGeom>
        </p:spPr>
      </p:pic>
      <p:sp>
        <p:nvSpPr>
          <p:cNvPr id="5120" name="TextBox 5119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Fig. 6  Hyperion 系统总览</a:t>
            </a:r>
            <a:endParaRPr sz="11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sp>
        <p:nvSpPr>
          <p:cNvPr id="5121" name="TextBox 5120"/>
          <p:cNvSpPr txBox="1"/>
          <p:nvPr/>
        </p:nvSpPr>
        <p:spPr>
          <a:xfrm>
            <a:off x="502920" y="4617720"/>
            <a:ext cx="8138160" cy="1463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latin typeface="微软雅黑"/>
                <a:ea typeface="微软雅黑"/>
              </a:rPr>
              <a:t>· </a:t>
            </a:r>
            <a:r>
              <a:rPr sz="1400" b="0">
                <a:latin typeface="微软雅黑"/>
                <a:ea typeface="微软雅黑"/>
              </a:rPr>
              <a:t>端侧运行小 ViT（ViT-Small 骨干），云侧运行大 ViT（ViT-Base 骨干加 SAHI 切片推理）。</a:t>
            </a:r>
            <a:endParaRPr sz="1400" b="0">
              <a:latin typeface="微软雅黑"/>
              <a:ea typeface="微软雅黑"/>
            </a:endParaRPr>
          </a:p>
          <a:p>
            <a:pPr>
              <a:lnSpc>
                <a:spcPct val="125000"/>
              </a:lnSpc>
            </a:pPr>
            <a:r>
              <a:rPr sz="1400" b="1">
                <a:latin typeface="微软雅黑"/>
                <a:ea typeface="微软雅黑"/>
              </a:rPr>
              <a:t>· </a:t>
            </a:r>
            <a:r>
              <a:rPr sz="1400" b="0">
                <a:latin typeface="微软雅黑"/>
                <a:ea typeface="微软雅黑"/>
              </a:rPr>
              <a:t>流程：输入帧 → 端侧小 ViT 推理 → 重要性评分器 → profiler 与传输调度器 → 帧切片上传 → 云侧大 ViT 推理 → 端侧融合器输出最终结果。网络断开或约束无法满足时直接使用端侧结果。</a:t>
            </a:r>
            <a:endParaRPr sz="140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算法框架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118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119" name="TextBox 5118"/>
          <p:cNvSpPr txBox="1"/>
          <p:nvPr/>
        </p:nvSpPr>
        <p:spPr>
          <a:xfrm>
            <a:off x="502920" y="914400"/>
            <a:ext cx="73152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模块一：协同感知 patch 级重要性评分器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120" name="TextBox 5119"/>
          <p:cNvSpPr txBox="1"/>
          <p:nvPr/>
        </p:nvSpPr>
        <p:spPr>
          <a:xfrm>
            <a:off x="502920" y="1371600"/>
            <a:ext cx="8138160" cy="4572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基础分数：对 patch p_i，在输出特征层的全部 L 层、N_h 个注意力头、n 个 patch 上对注意力权重取平均，得到 ImpScore(p_i)。这些数据在端侧小模型推理过程中直接产生，无需额外计算。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分类：mini-batch 版本的 Jenks 自然断点算法把 patch 分成 K 类（实验 K = 3），后续在类别级别决策，降低优化复杂度。</a:t>
            </a:r>
            <a:endParaRPr sz="16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协同感知修正：现有评分只考虑模型本身，没有考虑云边协同上下文，论文引入两个阈值。</a:t>
            </a:r>
            <a:endParaRPr sz="1600" b="0">
              <a:latin typeface="微软雅黑"/>
              <a:ea typeface="微软雅黑"/>
            </a:endParaRPr>
          </a:p>
          <a:p>
            <a:pPr marL="457200">
              <a:lnSpc>
                <a:spcPct val="135000"/>
              </a:lnSpc>
            </a:pPr>
            <a:r>
              <a:rPr sz="1400" b="1">
                <a:solidFill>
                  <a:srgbClr val="595959"/>
                </a:solidFill>
                <a:latin typeface="微软雅黑"/>
                <a:ea typeface="微软雅黑"/>
              </a:rPr>
              <a:t>– </a:t>
            </a:r>
            <a:r>
              <a:rPr sz="1400" b="0">
                <a:latin typeface="微软雅黑"/>
                <a:ea typeface="微软雅黑"/>
              </a:rPr>
              <a:t>重要性阈值 T_i：从 ViT 角度判断区域是否重要。</a:t>
            </a:r>
            <a:endParaRPr sz="1400" b="0">
              <a:latin typeface="微软雅黑"/>
              <a:ea typeface="微软雅黑"/>
            </a:endParaRPr>
          </a:p>
          <a:p>
            <a:pPr marL="457200">
              <a:lnSpc>
                <a:spcPct val="135000"/>
              </a:lnSpc>
            </a:pPr>
            <a:r>
              <a:rPr sz="1400" b="1">
                <a:solidFill>
                  <a:srgbClr val="595959"/>
                </a:solidFill>
                <a:latin typeface="微软雅黑"/>
                <a:ea typeface="微软雅黑"/>
              </a:rPr>
              <a:t>– </a:t>
            </a:r>
            <a:r>
              <a:rPr sz="1400" b="0">
                <a:latin typeface="微软雅黑"/>
                <a:ea typeface="微软雅黑"/>
              </a:rPr>
              <a:t>检测置信度阈值 T_c：用端侧模型置信度判断区域是否容易分析。运行时无法得知真实目标尺寸，高置信度通常对应大目标。</a:t>
            </a:r>
            <a:endParaRPr sz="14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同时超过两个阈值的 patch 已被端侧模型分析得很好，重新归入最低类别 Class 0，降低传输优先级。</a:t>
            </a:r>
            <a:endParaRPr sz="160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算法框架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119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120" name="TextBox 5119"/>
          <p:cNvSpPr txBox="1"/>
          <p:nvPr/>
        </p:nvSpPr>
        <p:spPr>
          <a:xfrm>
            <a:off x="502920" y="914400"/>
            <a:ext cx="73152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模块二：轻量级 profiler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121" name="TextBox 5120"/>
          <p:cNvSpPr txBox="1"/>
          <p:nvPr/>
        </p:nvSpPr>
        <p:spPr>
          <a:xfrm>
            <a:off x="502920" y="1371600"/>
            <a:ext cx="4114800" cy="4572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Size Profiler：压缩比与加权平均质量强线性相关，相关系数超过 0.98。</a:t>
            </a:r>
            <a:endParaRPr sz="1500" b="0">
              <a:latin typeface="微软雅黑"/>
              <a:ea typeface="微软雅黑"/>
            </a:endParaRPr>
          </a:p>
          <a:p>
            <a:pPr marL="457200">
              <a:lnSpc>
                <a:spcPct val="130000"/>
              </a:lnSpc>
            </a:pPr>
            <a:r>
              <a:rPr sz="1300" b="1">
                <a:solidFill>
                  <a:srgbClr val="595959"/>
                </a:solidFill>
                <a:latin typeface="微软雅黑"/>
                <a:ea typeface="微软雅黑"/>
              </a:rPr>
              <a:t>– </a:t>
            </a:r>
            <a:r>
              <a:rPr sz="1300" b="0">
                <a:latin typeface="微软雅黑"/>
                <a:ea typeface="微软雅黑"/>
              </a:rPr>
              <a:t>S(Q_c) = (α · Σ_c w_c q_c + α_S) × S_O，w_c 为类别占比，q_c 为质量值，S_O 为原始帧大小。</a:t>
            </a:r>
            <a:endParaRPr sz="13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Accuracy Profiler：精度与各类质量之间存在多元线性关系，相关系数超过 0.84。</a:t>
            </a:r>
            <a:endParaRPr sz="1500" b="0">
              <a:latin typeface="微软雅黑"/>
              <a:ea typeface="微软雅黑"/>
            </a:endParaRPr>
          </a:p>
          <a:p>
            <a:pPr marL="457200">
              <a:lnSpc>
                <a:spcPct val="130000"/>
              </a:lnSpc>
            </a:pPr>
            <a:r>
              <a:rPr sz="1300" b="1">
                <a:solidFill>
                  <a:srgbClr val="595959"/>
                </a:solidFill>
                <a:latin typeface="微软雅黑"/>
                <a:ea typeface="微软雅黑"/>
              </a:rPr>
              <a:t>– </a:t>
            </a:r>
            <a:r>
              <a:rPr sz="1300" b="0">
                <a:latin typeface="微软雅黑"/>
                <a:ea typeface="微软雅黑"/>
              </a:rPr>
              <a:t>A(Q_c) = Σ_c β_c q_c + β_A</a:t>
            </a:r>
            <a:endParaRPr sz="13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低重要性类别对降质非常鲁棒，重要性越高的类别降质损失越大。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可选 JPEG 质量 Q = {15, 30, 45, 60, 75}，系数由线性回归得到，调度时无需重复压缩。</a:t>
            </a:r>
            <a:endParaRPr sz="1500" b="0">
              <a:latin typeface="微软雅黑"/>
              <a:ea typeface="微软雅黑"/>
            </a:endParaRPr>
          </a:p>
        </p:txBody>
      </p:sp>
      <p:pic>
        <p:nvPicPr>
          <p:cNvPr id="5122" name="Picture 5121" descr="fig7a_size_profil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3540" y="1371600"/>
            <a:ext cx="2468880" cy="1851660"/>
          </a:xfrm>
          <a:prstGeom prst="rect">
            <a:avLst/>
          </a:prstGeom>
        </p:spPr>
      </p:pic>
      <p:sp>
        <p:nvSpPr>
          <p:cNvPr id="5123" name="TextBox 5122"/>
          <p:cNvSpPr txBox="1"/>
          <p:nvPr/>
        </p:nvSpPr>
        <p:spPr>
          <a:xfrm>
            <a:off x="4754880" y="3223260"/>
            <a:ext cx="3886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Fig. 7(a)  压缩比与加权平均质量</a:t>
            </a:r>
            <a:endParaRPr sz="11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pic>
        <p:nvPicPr>
          <p:cNvPr id="5124" name="Picture 5123" descr="fig7b_accuracy_profi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540" y="3726180"/>
            <a:ext cx="2468880" cy="1851660"/>
          </a:xfrm>
          <a:prstGeom prst="rect">
            <a:avLst/>
          </a:prstGeom>
        </p:spPr>
      </p:pic>
      <p:sp>
        <p:nvSpPr>
          <p:cNvPr id="5125" name="TextBox 5124"/>
          <p:cNvSpPr txBox="1"/>
          <p:nvPr/>
        </p:nvSpPr>
        <p:spPr>
          <a:xfrm>
            <a:off x="4754880" y="5577840"/>
            <a:ext cx="3886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Fig. 7(b)  各类别质量与精度损失</a:t>
            </a:r>
            <a:endParaRPr sz="11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算法框架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120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121" name="TextBox 5120"/>
          <p:cNvSpPr txBox="1"/>
          <p:nvPr/>
        </p:nvSpPr>
        <p:spPr>
          <a:xfrm>
            <a:off x="502920" y="914400"/>
            <a:ext cx="73152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模块三：自适应传输调度器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122" name="TextBox 5121"/>
          <p:cNvSpPr txBox="1"/>
          <p:nvPr/>
        </p:nvSpPr>
        <p:spPr>
          <a:xfrm>
            <a:off x="502920" y="1371600"/>
            <a:ext cx="8138160" cy="46634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目标：max Σ_c β_c q_c + β_A；约束：(α Σ_c w_c q_c + α_S) × S_O / B + L_d + L_c ≤ L，q_c ∈ Q。</a:t>
            </a:r>
            <a:endParaRPr sz="1600" b="0">
              <a:latin typeface="微软雅黑"/>
              <a:ea typeface="微软雅黑"/>
            </a:endParaRPr>
          </a:p>
          <a:p>
            <a:pPr marL="457200">
              <a:lnSpc>
                <a:spcPct val="135000"/>
              </a:lnSpc>
            </a:pPr>
            <a:r>
              <a:rPr sz="1400" b="1">
                <a:solidFill>
                  <a:srgbClr val="595959"/>
                </a:solidFill>
                <a:latin typeface="微软雅黑"/>
                <a:ea typeface="微软雅黑"/>
              </a:rPr>
              <a:t>– </a:t>
            </a:r>
            <a:r>
              <a:rPr sz="1400" b="0">
                <a:latin typeface="微软雅黑"/>
                <a:ea typeface="微软雅黑"/>
              </a:rPr>
              <a:t>B 为预测带宽（观测吞吐量的调和平均），L_d 为端侧处理时延，L_c 为云侧处理时延（离线剖析）。</a:t>
            </a:r>
            <a:endParaRPr sz="14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该问题是多选择背包问题（MCKP）的变体，论文用动态规划（Algorithm 1）最优求解：</a:t>
            </a:r>
            <a:endParaRPr sz="1600" b="0">
              <a:latin typeface="微软雅黑"/>
              <a:ea typeface="微软雅黑"/>
            </a:endParaRPr>
          </a:p>
          <a:p>
            <a:pPr marL="457200">
              <a:lnSpc>
                <a:spcPct val="135000"/>
              </a:lnSpc>
            </a:pPr>
            <a:r>
              <a:rPr sz="1400" b="1">
                <a:solidFill>
                  <a:srgbClr val="595959"/>
                </a:solidFill>
                <a:latin typeface="微软雅黑"/>
                <a:ea typeface="微软雅黑"/>
              </a:rPr>
              <a:t>– </a:t>
            </a:r>
            <a:r>
              <a:rPr sz="1400" b="0">
                <a:latin typeface="微软雅黑"/>
                <a:ea typeface="微软雅黑"/>
              </a:rPr>
              <a:t>把时延约束换算为允许的最大帧大小 S_max；</a:t>
            </a:r>
            <a:endParaRPr sz="1400" b="0">
              <a:latin typeface="微软雅黑"/>
              <a:ea typeface="微软雅黑"/>
            </a:endParaRPr>
          </a:p>
          <a:p>
            <a:pPr marL="457200">
              <a:lnSpc>
                <a:spcPct val="135000"/>
              </a:lnSpc>
            </a:pPr>
            <a:r>
              <a:rPr sz="1400" b="1">
                <a:solidFill>
                  <a:srgbClr val="595959"/>
                </a:solidFill>
                <a:latin typeface="微软雅黑"/>
                <a:ea typeface="微软雅黑"/>
              </a:rPr>
              <a:t>– </a:t>
            </a:r>
            <a:r>
              <a:rPr sz="1400" b="0">
                <a:latin typeface="微软雅黑"/>
                <a:ea typeface="微软雅黑"/>
              </a:rPr>
              <a:t>DP 表记录每个累计大小下的最大精度，Path 矩阵记录质量选择；</a:t>
            </a:r>
            <a:endParaRPr sz="1400" b="0">
              <a:latin typeface="微软雅黑"/>
              <a:ea typeface="微软雅黑"/>
            </a:endParaRPr>
          </a:p>
          <a:p>
            <a:pPr marL="457200">
              <a:lnSpc>
                <a:spcPct val="135000"/>
              </a:lnSpc>
            </a:pPr>
            <a:r>
              <a:rPr sz="1400" b="1">
                <a:solidFill>
                  <a:srgbClr val="595959"/>
                </a:solidFill>
                <a:latin typeface="微软雅黑"/>
                <a:ea typeface="微软雅黑"/>
              </a:rPr>
              <a:t>– </a:t>
            </a:r>
            <a:r>
              <a:rPr sz="1400" b="0">
                <a:latin typeface="微软雅黑"/>
                <a:ea typeface="微软雅黑"/>
              </a:rPr>
              <a:t>逐类别、逐累计大小遍历，对每个候选质量更新 DP 表；</a:t>
            </a:r>
            <a:endParaRPr sz="1400" b="0">
              <a:latin typeface="微软雅黑"/>
              <a:ea typeface="微软雅黑"/>
            </a:endParaRPr>
          </a:p>
          <a:p>
            <a:pPr marL="457200">
              <a:lnSpc>
                <a:spcPct val="135000"/>
              </a:lnSpc>
            </a:pPr>
            <a:r>
              <a:rPr sz="1400" b="1">
                <a:solidFill>
                  <a:srgbClr val="595959"/>
                </a:solidFill>
                <a:latin typeface="微软雅黑"/>
                <a:ea typeface="微软雅黑"/>
              </a:rPr>
              <a:t>– </a:t>
            </a:r>
            <a:r>
              <a:rPr sz="1400" b="0">
                <a:latin typeface="微软雅黑"/>
                <a:ea typeface="微软雅黑"/>
              </a:rPr>
              <a:t>取精度最大的状态回溯，得到各类别最优质量。</a:t>
            </a:r>
            <a:endParaRPr sz="14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复杂度 O(K × |Q| × S_max)，实测调度开销约 2.5 ms；无可行解时退回端侧结果。</a:t>
            </a:r>
            <a:endParaRPr sz="160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算法框架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121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122" name="TextBox 5121"/>
          <p:cNvSpPr txBox="1"/>
          <p:nvPr/>
        </p:nvSpPr>
        <p:spPr>
          <a:xfrm>
            <a:off x="502920" y="914400"/>
            <a:ext cx="73152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模块四：云端-设备模型融合器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123" name="TextBox 5122"/>
          <p:cNvSpPr txBox="1"/>
          <p:nvPr/>
        </p:nvSpPr>
        <p:spPr>
          <a:xfrm>
            <a:off x="502920" y="1371600"/>
            <a:ext cx="8138160" cy="46634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融合动机</a:t>
            </a:r>
            <a:endParaRPr sz="1600" b="0">
              <a:latin typeface="微软雅黑"/>
              <a:ea typeface="微软雅黑"/>
            </a:endParaRPr>
          </a:p>
          <a:p>
            <a:pPr marL="457200">
              <a:lnSpc>
                <a:spcPct val="135000"/>
              </a:lnSpc>
            </a:pPr>
            <a:r>
              <a:rPr sz="1400" b="1">
                <a:solidFill>
                  <a:srgbClr val="595959"/>
                </a:solidFill>
                <a:latin typeface="微软雅黑"/>
                <a:ea typeface="微软雅黑"/>
              </a:rPr>
              <a:t>– </a:t>
            </a:r>
            <a:r>
              <a:rPr sz="1400" b="0">
                <a:latin typeface="微软雅黑"/>
                <a:ea typeface="微软雅黑"/>
              </a:rPr>
              <a:t>多模型集成可降低方差和偏差，小模型和大模型集成同样有收益。</a:t>
            </a:r>
            <a:endParaRPr sz="1400" b="0">
              <a:latin typeface="微软雅黑"/>
              <a:ea typeface="微软雅黑"/>
            </a:endParaRPr>
          </a:p>
          <a:p>
            <a:pPr marL="457200">
              <a:lnSpc>
                <a:spcPct val="135000"/>
              </a:lnSpc>
            </a:pPr>
            <a:r>
              <a:rPr sz="1400" b="1">
                <a:solidFill>
                  <a:srgbClr val="595959"/>
                </a:solidFill>
                <a:latin typeface="微软雅黑"/>
                <a:ea typeface="微软雅黑"/>
              </a:rPr>
              <a:t>– </a:t>
            </a:r>
            <a:r>
              <a:rPr sz="1400" b="0">
                <a:latin typeface="微软雅黑"/>
                <a:ea typeface="微软雅黑"/>
              </a:rPr>
              <a:t>端侧小模型与云侧大模型在不同尺度上处理输入，融合可同时利用局部细节和全局上下文。</a:t>
            </a:r>
            <a:endParaRPr sz="1400" b="0">
              <a:latin typeface="微软雅黑"/>
              <a:ea typeface="微软雅黑"/>
            </a:endParaRPr>
          </a:p>
          <a:p>
            <a:pPr marL="457200">
              <a:lnSpc>
                <a:spcPct val="135000"/>
              </a:lnSpc>
            </a:pPr>
            <a:r>
              <a:rPr sz="1400" b="1">
                <a:solidFill>
                  <a:srgbClr val="595959"/>
                </a:solidFill>
                <a:latin typeface="微软雅黑"/>
                <a:ea typeface="微软雅黑"/>
              </a:rPr>
              <a:t>– </a:t>
            </a:r>
            <a:r>
              <a:rPr sz="1400" b="0">
                <a:latin typeface="微软雅黑"/>
                <a:ea typeface="微软雅黑"/>
              </a:rPr>
              <a:t>上传的 patch 经过质量调整存在信息损失，融合端侧结果可以补偿。</a:t>
            </a:r>
            <a:endParaRPr sz="1400" b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sz="1600" b="1">
                <a:latin typeface="微软雅黑"/>
                <a:ea typeface="微软雅黑"/>
              </a:rPr>
              <a:t>· </a:t>
            </a:r>
            <a:r>
              <a:rPr sz="1600" b="0">
                <a:latin typeface="微软雅黑"/>
                <a:ea typeface="微软雅黑"/>
              </a:rPr>
              <a:t>融合方式</a:t>
            </a:r>
            <a:endParaRPr sz="1600" b="0">
              <a:latin typeface="微软雅黑"/>
              <a:ea typeface="微软雅黑"/>
            </a:endParaRPr>
          </a:p>
          <a:p>
            <a:pPr marL="457200">
              <a:lnSpc>
                <a:spcPct val="135000"/>
              </a:lnSpc>
            </a:pPr>
            <a:r>
              <a:rPr sz="1400" b="1">
                <a:solidFill>
                  <a:srgbClr val="595959"/>
                </a:solidFill>
                <a:latin typeface="微软雅黑"/>
                <a:ea typeface="微软雅黑"/>
              </a:rPr>
              <a:t>– </a:t>
            </a:r>
            <a:r>
              <a:rPr sz="1400" b="0">
                <a:latin typeface="微软雅黑"/>
                <a:ea typeface="微软雅黑"/>
              </a:rPr>
              <a:t>端侧框 [E_x1, E_y1, E_x2, E_y2, E_conf]，云侧框 [C_x1, C_y1, C_x2, C_y2, C_conf]。</a:t>
            </a:r>
            <a:endParaRPr sz="1400" b="0">
              <a:latin typeface="微软雅黑"/>
              <a:ea typeface="微软雅黑"/>
            </a:endParaRPr>
          </a:p>
          <a:p>
            <a:pPr marL="457200">
              <a:lnSpc>
                <a:spcPct val="135000"/>
              </a:lnSpc>
            </a:pPr>
            <a:r>
              <a:rPr sz="1400" b="1">
                <a:solidFill>
                  <a:srgbClr val="595959"/>
                </a:solidFill>
                <a:latin typeface="微软雅黑"/>
                <a:ea typeface="微软雅黑"/>
              </a:rPr>
              <a:t>– </a:t>
            </a:r>
            <a:r>
              <a:rPr sz="1400" b="0">
                <a:latin typeface="微软雅黑"/>
                <a:ea typeface="微软雅黑"/>
              </a:rPr>
              <a:t>以置信度为权重 w_e = E_conf，w_c = C_conf，对四个坐标做加权平均，融合后置信度取两者平均。</a:t>
            </a:r>
            <a:endParaRPr sz="1400" b="0">
              <a:latin typeface="微软雅黑"/>
              <a:ea typeface="微软雅黑"/>
            </a:endParaRPr>
          </a:p>
          <a:p>
            <a:pPr marL="457200">
              <a:lnSpc>
                <a:spcPct val="135000"/>
              </a:lnSpc>
            </a:pPr>
            <a:r>
              <a:rPr sz="1400" b="1">
                <a:solidFill>
                  <a:srgbClr val="595959"/>
                </a:solidFill>
                <a:latin typeface="微软雅黑"/>
                <a:ea typeface="微软雅黑"/>
              </a:rPr>
              <a:t>– </a:t>
            </a:r>
            <a:r>
              <a:rPr sz="1400" b="0">
                <a:latin typeface="微软雅黑"/>
                <a:ea typeface="微软雅黑"/>
              </a:rPr>
              <a:t>切片推理产生的重叠分区结果用非极大值抑制（NMS）合并。</a:t>
            </a:r>
            <a:endParaRPr sz="140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122" name="组合 3"/>
          <p:cNvGrpSpPr/>
          <p:nvPr/>
        </p:nvGrpSpPr>
        <p:grpSpPr>
          <a:xfrm>
            <a:off x="2038350" y="1392238"/>
            <a:ext cx="5041900" cy="4197350"/>
            <a:chOff x="2038558" y="1293022"/>
            <a:chExt cx="5041692" cy="4198286"/>
          </a:xfrm>
        </p:grpSpPr>
        <p:grpSp>
          <p:nvGrpSpPr>
            <p:cNvPr id="5123" name="组合 1"/>
            <p:cNvGrpSpPr/>
            <p:nvPr/>
          </p:nvGrpSpPr>
          <p:grpSpPr>
            <a:xfrm>
              <a:off x="2051050" y="1293022"/>
              <a:ext cx="5029200" cy="3346449"/>
              <a:chOff x="2051050" y="1681166"/>
              <a:chExt cx="5029200" cy="3346449"/>
            </a:xfrm>
          </p:grpSpPr>
          <p:grpSp>
            <p:nvGrpSpPr>
              <p:cNvPr id="5124" name="组合 3"/>
              <p:cNvGrpSpPr/>
              <p:nvPr/>
            </p:nvGrpSpPr>
            <p:grpSpPr>
              <a:xfrm>
                <a:off x="2051050" y="3452816"/>
                <a:ext cx="5029200" cy="711201"/>
                <a:chOff x="2273300" y="3806828"/>
                <a:chExt cx="5029200" cy="711201"/>
              </a:xfrm>
            </p:grpSpPr>
            <p:grpSp>
              <p:nvGrpSpPr>
                <p:cNvPr id="5125" name="Group 99"/>
                <p:cNvGrpSpPr/>
                <p:nvPr/>
              </p:nvGrpSpPr>
              <p:grpSpPr>
                <a:xfrm>
                  <a:off x="2273300" y="3806828"/>
                  <a:ext cx="5029200" cy="711201"/>
                  <a:chOff x="1344" y="1568"/>
                  <a:chExt cx="2928" cy="448"/>
                </a:xfrm>
              </p:grpSpPr>
              <p:sp>
                <p:nvSpPr>
                  <p:cNvPr id="5126" name="Freeform 100"/>
                  <p:cNvSpPr/>
                  <p:nvPr/>
                </p:nvSpPr>
                <p:spPr>
                  <a:xfrm>
                    <a:off x="1440" y="1826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127" name="Rectangle 101"/>
                  <p:cNvSpPr/>
                  <p:nvPr/>
                </p:nvSpPr>
                <p:spPr>
                  <a:xfrm>
                    <a:off x="1344" y="1568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B1EFD0"/>
                      </a:gs>
                      <a:gs pos="100000">
                        <a:srgbClr val="77E3AD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128" name="Text Box 102"/>
                <p:cNvSpPr txBox="1">
                  <a:spLocks noChangeArrowheads="1"/>
                </p:cNvSpPr>
                <p:nvPr/>
              </p:nvSpPr>
              <p:spPr bwMode="gray">
                <a:xfrm>
                  <a:off x="2954517" y="3831040"/>
                  <a:ext cx="3641575" cy="519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3.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算法框架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129" name="组合 2"/>
              <p:cNvGrpSpPr/>
              <p:nvPr/>
            </p:nvGrpSpPr>
            <p:grpSpPr>
              <a:xfrm>
                <a:off x="2051050" y="2544767"/>
                <a:ext cx="5029200" cy="711201"/>
                <a:chOff x="2273300" y="3138492"/>
                <a:chExt cx="5029200" cy="711201"/>
              </a:xfrm>
            </p:grpSpPr>
            <p:grpSp>
              <p:nvGrpSpPr>
                <p:cNvPr id="5130" name="Group 103"/>
                <p:cNvGrpSpPr/>
                <p:nvPr/>
              </p:nvGrpSpPr>
              <p:grpSpPr>
                <a:xfrm>
                  <a:off x="2273300" y="3138492"/>
                  <a:ext cx="5029200" cy="711201"/>
                  <a:chOff x="1344" y="1691"/>
                  <a:chExt cx="2928" cy="448"/>
                </a:xfrm>
              </p:grpSpPr>
              <p:sp>
                <p:nvSpPr>
                  <p:cNvPr id="5131" name="Freeform 104"/>
                  <p:cNvSpPr/>
                  <p:nvPr/>
                </p:nvSpPr>
                <p:spPr>
                  <a:xfrm>
                    <a:off x="1440" y="1949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132" name="Rectangle 105"/>
                  <p:cNvSpPr/>
                  <p:nvPr/>
                </p:nvSpPr>
                <p:spPr>
                  <a:xfrm>
                    <a:off x="1344" y="1691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F6E1BD"/>
                      </a:gs>
                      <a:gs pos="100000">
                        <a:srgbClr val="EAB764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133" name="Text Box 106"/>
                <p:cNvSpPr txBox="1">
                  <a:spLocks noChangeArrowheads="1"/>
                </p:cNvSpPr>
                <p:nvPr/>
              </p:nvSpPr>
              <p:spPr bwMode="gray">
                <a:xfrm>
                  <a:off x="2919593" y="3176793"/>
                  <a:ext cx="3713009" cy="5192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2.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研究思路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134" name="组合 5"/>
              <p:cNvGrpSpPr/>
              <p:nvPr/>
            </p:nvGrpSpPr>
            <p:grpSpPr>
              <a:xfrm>
                <a:off x="2051050" y="1681166"/>
                <a:ext cx="5029200" cy="695326"/>
                <a:chOff x="2273300" y="2387603"/>
                <a:chExt cx="5029200" cy="695326"/>
              </a:xfrm>
            </p:grpSpPr>
            <p:grpSp>
              <p:nvGrpSpPr>
                <p:cNvPr id="5135" name="Group 107"/>
                <p:cNvGrpSpPr/>
                <p:nvPr/>
              </p:nvGrpSpPr>
              <p:grpSpPr>
                <a:xfrm>
                  <a:off x="2273300" y="2387603"/>
                  <a:ext cx="5029200" cy="695326"/>
                  <a:chOff x="1344" y="1842"/>
                  <a:chExt cx="2928" cy="438"/>
                </a:xfrm>
              </p:grpSpPr>
              <p:sp>
                <p:nvSpPr>
                  <p:cNvPr id="5136" name="Freeform 108"/>
                  <p:cNvSpPr/>
                  <p:nvPr/>
                </p:nvSpPr>
                <p:spPr>
                  <a:xfrm>
                    <a:off x="1440" y="2090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137" name="Rectangle 109"/>
                  <p:cNvSpPr/>
                  <p:nvPr/>
                </p:nvSpPr>
                <p:spPr>
                  <a:xfrm>
                    <a:off x="1344" y="1842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F7F4DD"/>
                      </a:gs>
                      <a:gs pos="100000">
                        <a:srgbClr val="DACB5E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138" name="Text Box 110"/>
                <p:cNvSpPr txBox="1"/>
                <p:nvPr/>
              </p:nvSpPr>
              <p:spPr>
                <a:xfrm>
                  <a:off x="3026686" y="2433859"/>
                  <a:ext cx="3497262" cy="5191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>
                  <a:spAutoFit/>
                </a:bodyPr>
                <a:p>
                  <a:pPr marL="0" lvl="0" indent="0" algn="ctr">
                    <a:spcBef>
                      <a:spcPct val="0"/>
                    </a:spcBef>
                    <a:buSzTx/>
                    <a:buNone/>
                  </a:pPr>
                  <a:r>
                    <a:rPr lang="en-US" altLang="zh-CN" sz="2800" b="1" dirty="0">
                      <a:solidFill>
                        <a:schemeClr val="bg1"/>
                      </a:solidFill>
                      <a:latin typeface="Times New Roman" panose="02020503050405090304" pitchFamily="18" charset="0"/>
                    </a:rPr>
                    <a:t>1. </a:t>
                  </a:r>
                  <a:r>
                    <a:rPr lang="zh-CN" altLang="en-US" sz="2800" b="1" dirty="0">
                      <a:solidFill>
                        <a:schemeClr val="bg1"/>
                      </a:solidFill>
                      <a:latin typeface="Times New Roman" panose="02020503050405090304" pitchFamily="18" charset="0"/>
                    </a:rPr>
                    <a:t>研究背景</a:t>
                  </a:r>
                  <a:endParaRPr lang="zh-CN" altLang="en-US" sz="2800" b="1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5139" name="组合 6"/>
              <p:cNvGrpSpPr/>
              <p:nvPr/>
            </p:nvGrpSpPr>
            <p:grpSpPr>
              <a:xfrm>
                <a:off x="2051050" y="4316414"/>
                <a:ext cx="5029200" cy="711201"/>
                <a:chOff x="2273300" y="4532314"/>
                <a:chExt cx="5029200" cy="711201"/>
              </a:xfrm>
            </p:grpSpPr>
            <p:grpSp>
              <p:nvGrpSpPr>
                <p:cNvPr id="5140" name="Group 111"/>
                <p:cNvGrpSpPr/>
                <p:nvPr/>
              </p:nvGrpSpPr>
              <p:grpSpPr>
                <a:xfrm>
                  <a:off x="2273300" y="4532314"/>
                  <a:ext cx="5029200" cy="711201"/>
                  <a:chOff x="1344" y="1417"/>
                  <a:chExt cx="2928" cy="448"/>
                </a:xfrm>
              </p:grpSpPr>
              <p:sp>
                <p:nvSpPr>
                  <p:cNvPr id="5141" name="Freeform 112"/>
                  <p:cNvSpPr/>
                  <p:nvPr/>
                </p:nvSpPr>
                <p:spPr>
                  <a:xfrm>
                    <a:off x="1440" y="1675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142" name="Rectangle 113"/>
                  <p:cNvSpPr/>
                  <p:nvPr/>
                </p:nvSpPr>
                <p:spPr>
                  <a:xfrm>
                    <a:off x="1344" y="1417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CDD6FE"/>
                      </a:gs>
                      <a:gs pos="100000">
                        <a:srgbClr val="9EB0FE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143" name="Text Box 114"/>
                <p:cNvSpPr txBox="1">
                  <a:spLocks noChangeArrowheads="1"/>
                </p:cNvSpPr>
                <p:nvPr/>
              </p:nvSpPr>
              <p:spPr bwMode="gray">
                <a:xfrm>
                  <a:off x="2967216" y="4591653"/>
                  <a:ext cx="3641575" cy="519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4.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实验结果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5144" name="组合 2"/>
            <p:cNvGrpSpPr/>
            <p:nvPr/>
          </p:nvGrpSpPr>
          <p:grpSpPr>
            <a:xfrm>
              <a:off x="2038558" y="4779921"/>
              <a:ext cx="5029018" cy="711387"/>
              <a:chOff x="2203450" y="666957"/>
              <a:chExt cx="5029018" cy="711387"/>
            </a:xfrm>
          </p:grpSpPr>
          <p:sp>
            <p:nvSpPr>
              <p:cNvPr id="5145" name="Freeform 108"/>
              <p:cNvSpPr/>
              <p:nvPr/>
            </p:nvSpPr>
            <p:spPr>
              <a:xfrm>
                <a:off x="2368342" y="1076719"/>
                <a:ext cx="4699416" cy="301625"/>
              </a:xfrm>
              <a:custGeom>
                <a:avLst/>
                <a:gdLst>
                  <a:gd name="txL" fmla="*/ 0 w 1120"/>
                  <a:gd name="txT" fmla="*/ 0 h 252"/>
                  <a:gd name="txR" fmla="*/ 1120 w 1120"/>
                  <a:gd name="txB" fmla="*/ 252 h 252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0" y="2147483646"/>
                  </a:cxn>
                  <a:cxn ang="0">
                    <a:pos x="0" y="2147483646"/>
                  </a:cxn>
                  <a:cxn ang="0">
                    <a:pos x="2147483646" y="0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1120" h="252">
                    <a:moveTo>
                      <a:pt x="1120" y="252"/>
                    </a:moveTo>
                    <a:lnTo>
                      <a:pt x="1116" y="250"/>
                    </a:lnTo>
                    <a:lnTo>
                      <a:pt x="1100" y="246"/>
                    </a:lnTo>
                    <a:lnTo>
                      <a:pt x="1074" y="240"/>
                    </a:lnTo>
                    <a:lnTo>
                      <a:pt x="1038" y="232"/>
                    </a:lnTo>
                    <a:lnTo>
                      <a:pt x="992" y="222"/>
                    </a:lnTo>
                    <a:lnTo>
                      <a:pt x="938" y="212"/>
                    </a:lnTo>
                    <a:lnTo>
                      <a:pt x="876" y="204"/>
                    </a:lnTo>
                    <a:lnTo>
                      <a:pt x="806" y="196"/>
                    </a:lnTo>
                    <a:lnTo>
                      <a:pt x="730" y="190"/>
                    </a:lnTo>
                    <a:lnTo>
                      <a:pt x="646" y="184"/>
                    </a:lnTo>
                    <a:lnTo>
                      <a:pt x="556" y="184"/>
                    </a:lnTo>
                    <a:lnTo>
                      <a:pt x="466" y="184"/>
                    </a:lnTo>
                    <a:lnTo>
                      <a:pt x="384" y="190"/>
                    </a:lnTo>
                    <a:lnTo>
                      <a:pt x="308" y="196"/>
                    </a:lnTo>
                    <a:lnTo>
                      <a:pt x="238" y="204"/>
                    </a:lnTo>
                    <a:lnTo>
                      <a:pt x="178" y="212"/>
                    </a:lnTo>
                    <a:lnTo>
                      <a:pt x="126" y="222"/>
                    </a:lnTo>
                    <a:lnTo>
                      <a:pt x="82" y="232"/>
                    </a:lnTo>
                    <a:lnTo>
                      <a:pt x="46" y="240"/>
                    </a:lnTo>
                    <a:lnTo>
                      <a:pt x="20" y="246"/>
                    </a:lnTo>
                    <a:lnTo>
                      <a:pt x="6" y="250"/>
                    </a:lnTo>
                    <a:lnTo>
                      <a:pt x="0" y="252"/>
                    </a:lnTo>
                    <a:lnTo>
                      <a:pt x="0" y="62"/>
                    </a:lnTo>
                    <a:lnTo>
                      <a:pt x="560" y="0"/>
                    </a:lnTo>
                    <a:lnTo>
                      <a:pt x="1120" y="62"/>
                    </a:lnTo>
                    <a:lnTo>
                      <a:pt x="1120" y="252"/>
                    </a:lnTo>
                    <a:close/>
                  </a:path>
                </a:pathLst>
              </a:custGeom>
              <a:solidFill>
                <a:srgbClr val="808080">
                  <a:alpha val="100000"/>
                </a:srgbClr>
              </a:solidFill>
              <a:ln w="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46" name="Rectangle 109"/>
              <p:cNvSpPr>
                <a:spLocks noChangeArrowheads="1"/>
              </p:cNvSpPr>
              <p:nvPr/>
            </p:nvSpPr>
            <p:spPr bwMode="gray">
              <a:xfrm>
                <a:off x="2203450" y="666985"/>
                <a:ext cx="5028993" cy="624026"/>
              </a:xfrm>
              <a:prstGeom prst="rect">
                <a:avLst/>
              </a:prstGeom>
              <a:gradFill rotWithShape="1">
                <a:gsLst>
                  <a:gs pos="98000">
                    <a:schemeClr val="accent2">
                      <a:lumMod val="20000"/>
                      <a:lumOff val="80000"/>
                    </a:schemeClr>
                  </a:gs>
                  <a:gs pos="100000">
                    <a:srgbClr val="DACB5E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47" name="Text Box 110"/>
              <p:cNvSpPr txBox="1">
                <a:spLocks noChangeArrowheads="1"/>
              </p:cNvSpPr>
              <p:nvPr/>
            </p:nvSpPr>
            <p:spPr bwMode="gray">
              <a:xfrm>
                <a:off x="2649520" y="751141"/>
                <a:ext cx="3497118" cy="519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>
                <a:spAutoFit/>
              </a:bodyPr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rPr>
                  <a:t>5. </a:t>
                </a: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rPr>
                  <a:t>总结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5148" name="TextBox 5147"/>
          <p:cNvSpPr txBox="1"/>
          <p:nvPr/>
        </p:nvSpPr>
        <p:spPr>
          <a:xfrm>
            <a:off x="6894576" y="9144"/>
            <a:ext cx="100584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chemeClr val="bg1"/>
                </a:solidFill>
                <a:latin typeface="Times New Roman" panose="02020503050405090304"/>
                <a:ea typeface="微软雅黑"/>
              </a:rPr>
              <a:t>提纲</a:t>
            </a:r>
            <a:endParaRPr sz="3200" b="1">
              <a:solidFill>
                <a:schemeClr val="bg1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2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实验结果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149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150" name="TextBox 5149"/>
          <p:cNvSpPr txBox="1"/>
          <p:nvPr/>
        </p:nvSpPr>
        <p:spPr>
          <a:xfrm>
            <a:off x="502920" y="91440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实验设置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5151" name="Table 5150"/>
          <p:cNvGraphicFramePr>
            <a:graphicFrameLocks noGrp="1"/>
          </p:cNvGraphicFramePr>
          <p:nvPr/>
        </p:nvGraphicFramePr>
        <p:xfrm>
          <a:off x="502920" y="1371600"/>
          <a:ext cx="81381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360"/>
                <a:gridCol w="678180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0141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配置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01418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边缘设备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NVIDIA Jetson Orin Nano（Ampere GPU 1024 CUDA 核心，8 GB LPDDR5），WiFi 模块与 5G 蜂窝模块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云服务器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阿里云 ECS，4 × Intel Xeon Platinum 8163，32 GB 内存，Tesla V100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软件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Ubuntu 20.04，PyTorch 2.0.0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视频数据集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PANDA，21 个真实场景，75,600 帧带检测标注，下采样到 3840 × 2160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网络轨迹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5G mmWave 上行数据集，Static / Walking / Driving 三种场景，覆盖 5G 和 4G LTE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端侧 ViTDet（ViT-Small），云侧 ViTDet（ViT-Base）加 SAHI 切片推理（切片 1024，重叠率 0.25）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K = 3，T_c = 0.90，时延约束 400 ms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实验结果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150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151" name="TextBox 5150"/>
          <p:cNvSpPr txBox="1"/>
          <p:nvPr/>
        </p:nvSpPr>
        <p:spPr>
          <a:xfrm>
            <a:off x="502920" y="91440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基线方法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152" name="TextBox 5151"/>
          <p:cNvSpPr txBox="1"/>
          <p:nvPr/>
        </p:nvSpPr>
        <p:spPr>
          <a:xfrm>
            <a:off x="502920" y="1325880"/>
            <a:ext cx="8138160" cy="2286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Remix（MobiCom 2021）：帧内不同区域动态选择 EfficientDet 变体，代表端侧超高清处理的最先进方法。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Elf（MobiCom 2021）：注意力 LSTM 预测目标框偏移并决定卸载区域，云侧 Mask R-CNN，代表高分辨率卸载处理的最先进方法。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Elf-V：Elf 的卸载策略加上与 Hyperion 相同的云侧 ViTDet 和 SAHI 推理。</a:t>
            </a:r>
            <a:endParaRPr sz="1500" b="0">
              <a:latin typeface="微软雅黑"/>
              <a:ea typeface="微软雅黑"/>
            </a:endParaRPr>
          </a:p>
        </p:txBody>
      </p:sp>
      <p:sp>
        <p:nvSpPr>
          <p:cNvPr id="5153" name="TextBox 5152"/>
          <p:cNvSpPr txBox="1"/>
          <p:nvPr/>
        </p:nvSpPr>
        <p:spPr>
          <a:xfrm>
            <a:off x="502920" y="379476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评价指标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154" name="TextBox 5153"/>
          <p:cNvSpPr txBox="1"/>
          <p:nvPr/>
        </p:nvSpPr>
        <p:spPr>
          <a:xfrm>
            <a:off x="502920" y="4206240"/>
            <a:ext cx="8138160" cy="1828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AP50：IoU 阈值 0.5 下的平均精度；未满足时延约束时沿用上一帧有效结果。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帧处理速率（FPS）、卸载数据量（MB）、时延偏差率（实测时延超出要求时延的百分比）。</a:t>
            </a:r>
            <a:endParaRPr sz="150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实验结果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151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152" name="TextBox 5151"/>
          <p:cNvSpPr txBox="1"/>
          <p:nvPr/>
        </p:nvSpPr>
        <p:spPr>
          <a:xfrm>
            <a:off x="502920" y="914400"/>
            <a:ext cx="73152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总体性能：精度、帧率与卸载数据量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pic>
        <p:nvPicPr>
          <p:cNvPr id="5153" name="Picture 5152" descr="fig8a_overall_4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8605" y="1371600"/>
            <a:ext cx="3646789" cy="1348740"/>
          </a:xfrm>
          <a:prstGeom prst="rect">
            <a:avLst/>
          </a:prstGeom>
        </p:spPr>
      </p:pic>
      <p:sp>
        <p:nvSpPr>
          <p:cNvPr id="5154" name="TextBox 5153"/>
          <p:cNvSpPr txBox="1"/>
          <p:nvPr/>
        </p:nvSpPr>
        <p:spPr>
          <a:xfrm>
            <a:off x="731520" y="2720340"/>
            <a:ext cx="7680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Fig. 8(a)  4G 网络（平均带宽 47.9 Mbps）</a:t>
            </a:r>
            <a:endParaRPr sz="11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pic>
        <p:nvPicPr>
          <p:cNvPr id="5155" name="Picture 5154" descr="fig8b_overall_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605" y="3223260"/>
            <a:ext cx="3646789" cy="1348740"/>
          </a:xfrm>
          <a:prstGeom prst="rect">
            <a:avLst/>
          </a:prstGeom>
        </p:spPr>
      </p:pic>
      <p:sp>
        <p:nvSpPr>
          <p:cNvPr id="5156" name="TextBox 5155"/>
          <p:cNvSpPr txBox="1"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Fig. 8(b)  5G 网络（平均带宽 93.2 Mbps）</a:t>
            </a:r>
            <a:endParaRPr sz="11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sp>
        <p:nvSpPr>
          <p:cNvPr id="5157" name="TextBox 5156"/>
          <p:cNvSpPr txBox="1"/>
          <p:nvPr/>
        </p:nvSpPr>
        <p:spPr>
          <a:xfrm>
            <a:off x="502920" y="4983480"/>
            <a:ext cx="8138160" cy="1097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just">
              <a:lnSpc>
                <a:spcPct val="130000"/>
              </a:lnSpc>
            </a:pPr>
            <a:r>
              <a:rPr sz="1500" b="0">
                <a:latin typeface="微软雅黑"/>
                <a:ea typeface="微软雅黑"/>
              </a:rPr>
              <a:t>相比 Remix 和两个版本的 Elf，Hyperion 精度提升 5.6% 到 20.2%，帧处理速率持平或更高，卸载数据量只有 Elf 和 Elf-V 的 24% 到 39.8%。</a:t>
            </a:r>
            <a:endParaRPr sz="150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实验结果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152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153" name="TextBox 5152"/>
          <p:cNvSpPr txBox="1"/>
          <p:nvPr/>
        </p:nvSpPr>
        <p:spPr>
          <a:xfrm>
            <a:off x="502920" y="914400"/>
            <a:ext cx="73152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总体性能：相近端到端时延下的精度对比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5154" name="Table 5153"/>
          <p:cNvGraphicFramePr>
            <a:graphicFrameLocks noGrp="1"/>
          </p:cNvGraphicFramePr>
          <p:nvPr/>
        </p:nvGraphicFramePr>
        <p:xfrm>
          <a:off x="1097280" y="1463040"/>
          <a:ext cx="694943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049"/>
                <a:gridCol w="1805049"/>
                <a:gridCol w="1353787"/>
                <a:gridCol w="1985554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场景</a:t>
                      </a:r>
                      <a:endParaRPr sz="14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0141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  <a:endParaRPr sz="14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0141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AP50</a:t>
                      </a:r>
                      <a:endParaRPr sz="14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0141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平均端到端时延</a:t>
                      </a:r>
                      <a:endParaRPr sz="14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01418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4G（47.9 Mbps）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Hyperion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22.8%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385.4 ms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4G（47.9 Mbps）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Remix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8.8%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389.8 ms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4G（47.9 Mbps）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Elf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6.3%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387.9 ms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5G（93.2 Mbps）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Hyperion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25.3%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362.9 ms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5G（93.2 Mbps）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Elf-V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19.6%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391.8 ms</a:t>
                      </a:r>
                      <a:endParaRPr sz="14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55" name="TextBox 5154"/>
          <p:cNvSpPr txBox="1"/>
          <p:nvPr/>
        </p:nvSpPr>
        <p:spPr>
          <a:xfrm>
            <a:off x="502920" y="4206240"/>
            <a:ext cx="8138160" cy="1828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数据来自论文 IV-C 节的文字描述。Hyperion 在相近时延下精度始终最高，5G 场景下比最强基线 Elf-V 精度更高且时延更低。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绝对精度偏低是 PANDA 数据集本身难度导致的。</a:t>
            </a:r>
            <a:endParaRPr sz="150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实验结果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153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154" name="TextBox 5153"/>
          <p:cNvSpPr txBox="1"/>
          <p:nvPr/>
        </p:nvSpPr>
        <p:spPr>
          <a:xfrm>
            <a:off x="502920" y="914400"/>
            <a:ext cx="73152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网络动态的影响：4G LTE Driving 轨迹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155" name="TextBox 5154"/>
          <p:cNvSpPr txBox="1"/>
          <p:nvPr/>
        </p:nvSpPr>
        <p:spPr>
          <a:xfrm>
            <a:off x="502920" y="1371600"/>
            <a:ext cx="4023360" cy="4572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latin typeface="微软雅黑"/>
                <a:ea typeface="微软雅黑"/>
              </a:rPr>
              <a:t>· </a:t>
            </a:r>
            <a:r>
              <a:rPr sz="1400" b="0">
                <a:latin typeface="微软雅黑"/>
                <a:ea typeface="微软雅黑"/>
              </a:rPr>
              <a:t>上图为带宽轨迹，中图为帧处理速率，下图为精度，时延约束 400 ms。</a:t>
            </a:r>
            <a:endParaRPr sz="14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400" b="1">
                <a:latin typeface="微软雅黑"/>
                <a:ea typeface="微软雅黑"/>
              </a:rPr>
              <a:t>· </a:t>
            </a:r>
            <a:r>
              <a:rPr sz="1400" b="0">
                <a:latin typeface="微软雅黑"/>
                <a:ea typeface="微软雅黑"/>
              </a:rPr>
              <a:t>低带宽阶段：Elf 系列因传输时延过高性能严重下降；Remix 靠轻量传统模型维持低精度；Hyperion 减少对云端依赖，靠端侧小 ViT 同时保持吞吐和精度。</a:t>
            </a:r>
            <a:endParaRPr sz="14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400" b="1">
                <a:latin typeface="微软雅黑"/>
                <a:ea typeface="微软雅黑"/>
              </a:rPr>
              <a:t>· </a:t>
            </a:r>
            <a:r>
              <a:rPr sz="1400" b="0">
                <a:latin typeface="微软雅黑"/>
                <a:ea typeface="微软雅黑"/>
              </a:rPr>
              <a:t>带宽较高阶段：Hyperion 把节省的时延用于以合理质量上传帧，交给云侧大模型。</a:t>
            </a:r>
            <a:endParaRPr sz="14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400" b="1">
                <a:latin typeface="微软雅黑"/>
                <a:ea typeface="微软雅黑"/>
              </a:rPr>
              <a:t>· </a:t>
            </a:r>
            <a:r>
              <a:rPr sz="1400" b="0">
                <a:latin typeface="微软雅黑"/>
                <a:ea typeface="微软雅黑"/>
              </a:rPr>
              <a:t>带宽充裕阶段：通信不再是瓶颈，Hyperion 直接发送原始帧，取得最高精度。</a:t>
            </a:r>
            <a:endParaRPr sz="1400" b="0">
              <a:latin typeface="微软雅黑"/>
              <a:ea typeface="微软雅黑"/>
            </a:endParaRPr>
          </a:p>
        </p:txBody>
      </p:sp>
      <p:pic>
        <p:nvPicPr>
          <p:cNvPr id="5156" name="Picture 5155" descr="fig9_runtime_4g_tra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2091222"/>
            <a:ext cx="4023360" cy="2766994"/>
          </a:xfrm>
          <a:prstGeom prst="rect">
            <a:avLst/>
          </a:prstGeom>
        </p:spPr>
      </p:pic>
      <p:sp>
        <p:nvSpPr>
          <p:cNvPr id="5157" name="TextBox 5156"/>
          <p:cNvSpPr txBox="1"/>
          <p:nvPr/>
        </p:nvSpPr>
        <p:spPr>
          <a:xfrm>
            <a:off x="4617720" y="5577840"/>
            <a:ext cx="4023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Fig. 9  动态 4G LTE 轨迹下的运行时分析</a:t>
            </a:r>
            <a:endParaRPr sz="11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实验结果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154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155" name="TextBox 5154"/>
          <p:cNvSpPr txBox="1"/>
          <p:nvPr/>
        </p:nvSpPr>
        <p:spPr>
          <a:xfrm>
            <a:off x="502920" y="914400"/>
            <a:ext cx="73152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时延约束的影响：固定 4G 上行 47.9 Mbps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156" name="TextBox 5155"/>
          <p:cNvSpPr txBox="1"/>
          <p:nvPr/>
        </p:nvSpPr>
        <p:spPr>
          <a:xfrm>
            <a:off x="502920" y="1371600"/>
            <a:ext cx="4023360" cy="4572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latin typeface="微软雅黑"/>
                <a:ea typeface="微软雅黑"/>
              </a:rPr>
              <a:t>· </a:t>
            </a:r>
            <a:r>
              <a:rPr sz="1400" b="0">
                <a:latin typeface="微软雅黑"/>
                <a:ea typeface="微软雅黑"/>
              </a:rPr>
              <a:t>上图为时延偏差率（对数坐标），下图为精度，横轴为 300 ms 到 2000 ms 的时延要求。</a:t>
            </a:r>
            <a:endParaRPr sz="14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400" b="1">
                <a:latin typeface="微软雅黑"/>
                <a:ea typeface="微软雅黑"/>
              </a:rPr>
              <a:t>· </a:t>
            </a:r>
            <a:r>
              <a:rPr sz="1400" b="0">
                <a:latin typeface="微软雅黑"/>
                <a:ea typeface="微软雅黑"/>
              </a:rPr>
              <a:t>Hyperion 在所有约束下都满足时延要求，精度始终最高；300 ms 约束下精度 20.79%，比第二名高 12.0%。</a:t>
            </a:r>
            <a:endParaRPr sz="14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400" b="1">
                <a:latin typeface="微软雅黑"/>
                <a:ea typeface="微软雅黑"/>
              </a:rPr>
              <a:t>· </a:t>
            </a:r>
            <a:r>
              <a:rPr sz="1400" b="0">
                <a:latin typeface="微软雅黑"/>
                <a:ea typeface="微软雅黑"/>
              </a:rPr>
              <a:t>Remix 也能满足约束，但 450 ms 以下精度大幅下降；放宽到 2000 ms 才达到 21.6%，且需要大量离线分区方案。</a:t>
            </a:r>
            <a:endParaRPr sz="14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400" b="1">
                <a:latin typeface="微软雅黑"/>
                <a:ea typeface="微软雅黑"/>
              </a:rPr>
              <a:t>· </a:t>
            </a:r>
            <a:r>
              <a:rPr sz="1400" b="0">
                <a:latin typeface="微软雅黑"/>
                <a:ea typeface="微软雅黑"/>
              </a:rPr>
              <a:t>Elf 和 Elf-V 在严格约束下时延违约率高，放宽到 650 ms 后才稳定满足。</a:t>
            </a:r>
            <a:endParaRPr sz="1400" b="0">
              <a:latin typeface="微软雅黑"/>
              <a:ea typeface="微软雅黑"/>
            </a:endParaRPr>
          </a:p>
        </p:txBody>
      </p:sp>
      <p:pic>
        <p:nvPicPr>
          <p:cNvPr id="5157" name="Picture 5156" descr="fig10_varying_latenc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2181215"/>
            <a:ext cx="4023360" cy="2587008"/>
          </a:xfrm>
          <a:prstGeom prst="rect">
            <a:avLst/>
          </a:prstGeom>
        </p:spPr>
      </p:pic>
      <p:sp>
        <p:nvSpPr>
          <p:cNvPr id="5158" name="TextBox 5157"/>
          <p:cNvSpPr txBox="1"/>
          <p:nvPr/>
        </p:nvSpPr>
        <p:spPr>
          <a:xfrm>
            <a:off x="4617720" y="5577840"/>
            <a:ext cx="4023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Fig. 10  不同时延要求下的精度与时延偏差率</a:t>
            </a:r>
            <a:endParaRPr sz="11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实验结果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155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156" name="TextBox 5155"/>
          <p:cNvSpPr txBox="1"/>
          <p:nvPr/>
        </p:nvSpPr>
        <p:spPr>
          <a:xfrm>
            <a:off x="502920" y="91440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消融实验（5G 场景）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5157" name="Table 5156"/>
          <p:cNvGraphicFramePr>
            <a:graphicFrameLocks noGrp="1"/>
          </p:cNvGraphicFramePr>
          <p:nvPr/>
        </p:nvGraphicFramePr>
        <p:xfrm>
          <a:off x="502920" y="1371600"/>
          <a:ext cx="813815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430"/>
                <a:gridCol w="3590364"/>
                <a:gridCol w="3590364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变体</a:t>
                      </a:r>
                      <a:endParaRPr sz="13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0141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改动</a:t>
                      </a:r>
                      <a:endParaRPr sz="13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0141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  <a:endParaRPr sz="13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01418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V1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去掉协同感知修正，直接用注意力分数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平均传输时延增加 9.7%，精度相近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V2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调度器换成固定质量策略（15 / 45 / 75）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端到端时延增加 4.9%，精度从 25.3% 降到 10.2%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V3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去掉融合器，云端结果可用时直接采用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精度下降 0.4%，时延相近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58" name="TextBox 5157"/>
          <p:cNvSpPr txBox="1"/>
          <p:nvPr/>
        </p:nvSpPr>
        <p:spPr>
          <a:xfrm>
            <a:off x="502920" y="3429000"/>
            <a:ext cx="73152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TABLE I：真实部署下的时延构成（时延约束 500 ms）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5159" name="Table 5158"/>
          <p:cNvGraphicFramePr>
            <a:graphicFrameLocks noGrp="1"/>
          </p:cNvGraphicFramePr>
          <p:nvPr/>
        </p:nvGraphicFramePr>
        <p:xfrm>
          <a:off x="502920" y="3886200"/>
          <a:ext cx="81381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360"/>
                <a:gridCol w="1356360"/>
                <a:gridCol w="1356360"/>
                <a:gridCol w="1356360"/>
                <a:gridCol w="1356360"/>
                <a:gridCol w="13563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网络</a:t>
                      </a:r>
                      <a:endParaRPr sz="13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0141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平均带宽</a:t>
                      </a:r>
                      <a:endParaRPr sz="13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0141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系统开销</a:t>
                      </a:r>
                      <a:endParaRPr sz="13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0141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端侧计算</a:t>
                      </a:r>
                      <a:endParaRPr sz="13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0141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传输</a:t>
                      </a:r>
                      <a:endParaRPr sz="13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0141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云侧计算</a:t>
                      </a:r>
                      <a:endParaRPr sz="13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01418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WiFi 5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29.0 Mbps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1.8%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51.8%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37.0%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9.3%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5G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22.1 Mbps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2.0%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56.6%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31.2%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10.2%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4G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6.3 Mbps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3.5%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96.5%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0.0%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0.0%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60" name="TextBox 5159"/>
          <p:cNvSpPr txBox="1"/>
          <p:nvPr/>
        </p:nvSpPr>
        <p:spPr>
          <a:xfrm>
            <a:off x="502920" y="5440680"/>
            <a:ext cx="813816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latin typeface="微软雅黑"/>
                <a:ea typeface="微软雅黑"/>
              </a:rPr>
              <a:t>自适应调度器对精度贡献最大；系统自身开销低于 3.5%；4G 带宽只有 6.3 Mbps 时调度器判断无法满足约束，系统完全退回端侧推理。</a:t>
            </a:r>
            <a:endParaRPr sz="130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156" name="组合 3"/>
          <p:cNvGrpSpPr/>
          <p:nvPr/>
        </p:nvGrpSpPr>
        <p:grpSpPr>
          <a:xfrm>
            <a:off x="2038350" y="1392238"/>
            <a:ext cx="5041900" cy="4197350"/>
            <a:chOff x="2038558" y="1293022"/>
            <a:chExt cx="5041692" cy="4198286"/>
          </a:xfrm>
        </p:grpSpPr>
        <p:grpSp>
          <p:nvGrpSpPr>
            <p:cNvPr id="5157" name="组合 1"/>
            <p:cNvGrpSpPr/>
            <p:nvPr/>
          </p:nvGrpSpPr>
          <p:grpSpPr>
            <a:xfrm>
              <a:off x="2051050" y="1293022"/>
              <a:ext cx="5029200" cy="3346449"/>
              <a:chOff x="2051050" y="1681166"/>
              <a:chExt cx="5029200" cy="3346449"/>
            </a:xfrm>
          </p:grpSpPr>
          <p:grpSp>
            <p:nvGrpSpPr>
              <p:cNvPr id="5158" name="组合 3"/>
              <p:cNvGrpSpPr/>
              <p:nvPr/>
            </p:nvGrpSpPr>
            <p:grpSpPr>
              <a:xfrm>
                <a:off x="2051050" y="3452816"/>
                <a:ext cx="5029200" cy="711201"/>
                <a:chOff x="2273300" y="3806828"/>
                <a:chExt cx="5029200" cy="711201"/>
              </a:xfrm>
            </p:grpSpPr>
            <p:grpSp>
              <p:nvGrpSpPr>
                <p:cNvPr id="5159" name="Group 99"/>
                <p:cNvGrpSpPr/>
                <p:nvPr/>
              </p:nvGrpSpPr>
              <p:grpSpPr>
                <a:xfrm>
                  <a:off x="2273300" y="3806828"/>
                  <a:ext cx="5029200" cy="711201"/>
                  <a:chOff x="1344" y="1568"/>
                  <a:chExt cx="2928" cy="448"/>
                </a:xfrm>
              </p:grpSpPr>
              <p:sp>
                <p:nvSpPr>
                  <p:cNvPr id="5160" name="Freeform 100"/>
                  <p:cNvSpPr/>
                  <p:nvPr/>
                </p:nvSpPr>
                <p:spPr>
                  <a:xfrm>
                    <a:off x="1440" y="1826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161" name="Rectangle 101"/>
                  <p:cNvSpPr/>
                  <p:nvPr/>
                </p:nvSpPr>
                <p:spPr>
                  <a:xfrm>
                    <a:off x="1344" y="1568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B1EFD0"/>
                      </a:gs>
                      <a:gs pos="100000">
                        <a:srgbClr val="77E3AD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162" name="Text Box 102"/>
                <p:cNvSpPr txBox="1">
                  <a:spLocks noChangeArrowheads="1"/>
                </p:cNvSpPr>
                <p:nvPr/>
              </p:nvSpPr>
              <p:spPr bwMode="gray">
                <a:xfrm>
                  <a:off x="2954517" y="3831040"/>
                  <a:ext cx="3641575" cy="519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3.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算法框架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163" name="组合 2"/>
              <p:cNvGrpSpPr/>
              <p:nvPr/>
            </p:nvGrpSpPr>
            <p:grpSpPr>
              <a:xfrm>
                <a:off x="2051050" y="2544767"/>
                <a:ext cx="5029200" cy="711201"/>
                <a:chOff x="2273300" y="3138492"/>
                <a:chExt cx="5029200" cy="711201"/>
              </a:xfrm>
            </p:grpSpPr>
            <p:grpSp>
              <p:nvGrpSpPr>
                <p:cNvPr id="5164" name="Group 103"/>
                <p:cNvGrpSpPr/>
                <p:nvPr/>
              </p:nvGrpSpPr>
              <p:grpSpPr>
                <a:xfrm>
                  <a:off x="2273300" y="3138492"/>
                  <a:ext cx="5029200" cy="711201"/>
                  <a:chOff x="1344" y="1691"/>
                  <a:chExt cx="2928" cy="448"/>
                </a:xfrm>
              </p:grpSpPr>
              <p:sp>
                <p:nvSpPr>
                  <p:cNvPr id="5165" name="Freeform 104"/>
                  <p:cNvSpPr/>
                  <p:nvPr/>
                </p:nvSpPr>
                <p:spPr>
                  <a:xfrm>
                    <a:off x="1440" y="1949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166" name="Rectangle 105"/>
                  <p:cNvSpPr/>
                  <p:nvPr/>
                </p:nvSpPr>
                <p:spPr>
                  <a:xfrm>
                    <a:off x="1344" y="1691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F6E1BD"/>
                      </a:gs>
                      <a:gs pos="100000">
                        <a:srgbClr val="EAB764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167" name="Text Box 106"/>
                <p:cNvSpPr txBox="1">
                  <a:spLocks noChangeArrowheads="1"/>
                </p:cNvSpPr>
                <p:nvPr/>
              </p:nvSpPr>
              <p:spPr bwMode="gray">
                <a:xfrm>
                  <a:off x="2919593" y="3176793"/>
                  <a:ext cx="3713009" cy="5192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2.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研究思路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168" name="组合 5"/>
              <p:cNvGrpSpPr/>
              <p:nvPr/>
            </p:nvGrpSpPr>
            <p:grpSpPr>
              <a:xfrm>
                <a:off x="2051050" y="1681166"/>
                <a:ext cx="5029200" cy="695326"/>
                <a:chOff x="2273300" y="2387603"/>
                <a:chExt cx="5029200" cy="695326"/>
              </a:xfrm>
            </p:grpSpPr>
            <p:grpSp>
              <p:nvGrpSpPr>
                <p:cNvPr id="5169" name="Group 107"/>
                <p:cNvGrpSpPr/>
                <p:nvPr/>
              </p:nvGrpSpPr>
              <p:grpSpPr>
                <a:xfrm>
                  <a:off x="2273300" y="2387603"/>
                  <a:ext cx="5029200" cy="695326"/>
                  <a:chOff x="1344" y="1842"/>
                  <a:chExt cx="2928" cy="438"/>
                </a:xfrm>
              </p:grpSpPr>
              <p:sp>
                <p:nvSpPr>
                  <p:cNvPr id="5170" name="Freeform 108"/>
                  <p:cNvSpPr/>
                  <p:nvPr/>
                </p:nvSpPr>
                <p:spPr>
                  <a:xfrm>
                    <a:off x="1440" y="2090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171" name="Rectangle 109"/>
                  <p:cNvSpPr/>
                  <p:nvPr/>
                </p:nvSpPr>
                <p:spPr>
                  <a:xfrm>
                    <a:off x="1344" y="1842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F7F4DD"/>
                      </a:gs>
                      <a:gs pos="100000">
                        <a:srgbClr val="DACB5E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172" name="Text Box 110"/>
                <p:cNvSpPr txBox="1"/>
                <p:nvPr/>
              </p:nvSpPr>
              <p:spPr>
                <a:xfrm>
                  <a:off x="3026686" y="2433859"/>
                  <a:ext cx="3497262" cy="5191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>
                  <a:spAutoFit/>
                </a:bodyPr>
                <a:p>
                  <a:pPr marL="0" lvl="0" indent="0" algn="ctr">
                    <a:spcBef>
                      <a:spcPct val="0"/>
                    </a:spcBef>
                    <a:buSzTx/>
                    <a:buNone/>
                  </a:pPr>
                  <a:r>
                    <a:rPr lang="en-US" altLang="zh-CN" sz="2800" b="1" dirty="0">
                      <a:solidFill>
                        <a:schemeClr val="bg1"/>
                      </a:solidFill>
                      <a:latin typeface="Times New Roman" panose="02020503050405090304" pitchFamily="18" charset="0"/>
                    </a:rPr>
                    <a:t>1. </a:t>
                  </a:r>
                  <a:r>
                    <a:rPr lang="zh-CN" altLang="en-US" sz="2800" b="1" dirty="0">
                      <a:solidFill>
                        <a:schemeClr val="bg1"/>
                      </a:solidFill>
                      <a:latin typeface="Times New Roman" panose="02020503050405090304" pitchFamily="18" charset="0"/>
                    </a:rPr>
                    <a:t>研究背景</a:t>
                  </a:r>
                  <a:endParaRPr lang="zh-CN" altLang="en-US" sz="2800" b="1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5173" name="组合 6"/>
              <p:cNvGrpSpPr/>
              <p:nvPr/>
            </p:nvGrpSpPr>
            <p:grpSpPr>
              <a:xfrm>
                <a:off x="2051050" y="4316414"/>
                <a:ext cx="5029200" cy="711201"/>
                <a:chOff x="2273300" y="4532314"/>
                <a:chExt cx="5029200" cy="711201"/>
              </a:xfrm>
            </p:grpSpPr>
            <p:grpSp>
              <p:nvGrpSpPr>
                <p:cNvPr id="5174" name="Group 111"/>
                <p:cNvGrpSpPr/>
                <p:nvPr/>
              </p:nvGrpSpPr>
              <p:grpSpPr>
                <a:xfrm>
                  <a:off x="2273300" y="4532314"/>
                  <a:ext cx="5029200" cy="711201"/>
                  <a:chOff x="1344" y="1417"/>
                  <a:chExt cx="2928" cy="448"/>
                </a:xfrm>
              </p:grpSpPr>
              <p:sp>
                <p:nvSpPr>
                  <p:cNvPr id="5175" name="Freeform 112"/>
                  <p:cNvSpPr/>
                  <p:nvPr/>
                </p:nvSpPr>
                <p:spPr>
                  <a:xfrm>
                    <a:off x="1440" y="1675"/>
                    <a:ext cx="2736" cy="190"/>
                  </a:xfrm>
                  <a:custGeom>
                    <a:avLst/>
                    <a:gdLst>
                      <a:gd name="txL" fmla="*/ 0 w 1120"/>
                      <a:gd name="txT" fmla="*/ 0 h 252"/>
                      <a:gd name="txR" fmla="*/ 1120 w 1120"/>
                      <a:gd name="txB" fmla="*/ 252 h 252"/>
                    </a:gdLst>
                    <a:ahLst/>
                    <a:cxnLst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0" y="2"/>
                      </a:cxn>
                      <a:cxn ang="0">
                        <a:pos x="0" y="2"/>
                      </a:cxn>
                      <a:cxn ang="0">
                        <a:pos x="2147483646" y="0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  <a:cxn ang="0">
                        <a:pos x="2147483646" y="2"/>
                      </a:cxn>
                    </a:cxnLst>
                    <a:rect l="txL" t="txT" r="txR" b="txB"/>
                    <a:pathLst>
                      <a:path w="1120" h="252">
                        <a:moveTo>
                          <a:pt x="1120" y="252"/>
                        </a:moveTo>
                        <a:lnTo>
                          <a:pt x="1116" y="250"/>
                        </a:lnTo>
                        <a:lnTo>
                          <a:pt x="1100" y="246"/>
                        </a:lnTo>
                        <a:lnTo>
                          <a:pt x="1074" y="240"/>
                        </a:lnTo>
                        <a:lnTo>
                          <a:pt x="1038" y="232"/>
                        </a:lnTo>
                        <a:lnTo>
                          <a:pt x="992" y="222"/>
                        </a:lnTo>
                        <a:lnTo>
                          <a:pt x="938" y="212"/>
                        </a:lnTo>
                        <a:lnTo>
                          <a:pt x="876" y="204"/>
                        </a:lnTo>
                        <a:lnTo>
                          <a:pt x="806" y="196"/>
                        </a:lnTo>
                        <a:lnTo>
                          <a:pt x="730" y="190"/>
                        </a:lnTo>
                        <a:lnTo>
                          <a:pt x="646" y="184"/>
                        </a:lnTo>
                        <a:lnTo>
                          <a:pt x="556" y="184"/>
                        </a:lnTo>
                        <a:lnTo>
                          <a:pt x="466" y="184"/>
                        </a:lnTo>
                        <a:lnTo>
                          <a:pt x="384" y="190"/>
                        </a:lnTo>
                        <a:lnTo>
                          <a:pt x="308" y="196"/>
                        </a:lnTo>
                        <a:lnTo>
                          <a:pt x="238" y="204"/>
                        </a:lnTo>
                        <a:lnTo>
                          <a:pt x="178" y="212"/>
                        </a:lnTo>
                        <a:lnTo>
                          <a:pt x="126" y="222"/>
                        </a:lnTo>
                        <a:lnTo>
                          <a:pt x="82" y="232"/>
                        </a:lnTo>
                        <a:lnTo>
                          <a:pt x="46" y="240"/>
                        </a:lnTo>
                        <a:lnTo>
                          <a:pt x="20" y="246"/>
                        </a:lnTo>
                        <a:lnTo>
                          <a:pt x="6" y="250"/>
                        </a:lnTo>
                        <a:lnTo>
                          <a:pt x="0" y="252"/>
                        </a:lnTo>
                        <a:lnTo>
                          <a:pt x="0" y="62"/>
                        </a:lnTo>
                        <a:lnTo>
                          <a:pt x="560" y="0"/>
                        </a:lnTo>
                        <a:lnTo>
                          <a:pt x="1120" y="62"/>
                        </a:lnTo>
                        <a:lnTo>
                          <a:pt x="1120" y="252"/>
                        </a:lnTo>
                        <a:close/>
                      </a:path>
                    </a:pathLst>
                  </a:custGeom>
                  <a:solidFill>
                    <a:srgbClr val="808080">
                      <a:alpha val="100000"/>
                    </a:srgbClr>
                  </a:solidFill>
                  <a:ln w="0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176" name="Rectangle 113"/>
                  <p:cNvSpPr/>
                  <p:nvPr/>
                </p:nvSpPr>
                <p:spPr>
                  <a:xfrm>
                    <a:off x="1344" y="1417"/>
                    <a:ext cx="2928" cy="39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CDD6FE"/>
                      </a:gs>
                      <a:gs pos="100000">
                        <a:srgbClr val="9EB0FE"/>
                      </a:gs>
                    </a:gsLst>
                    <a:lin ang="27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marL="0" lvl="0" indent="0" eaLnBrk="1" hangingPunct="1">
                      <a:spcBef>
                        <a:spcPct val="0"/>
                      </a:spcBef>
                      <a:buSzTx/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5177" name="Text Box 114"/>
                <p:cNvSpPr txBox="1">
                  <a:spLocks noChangeArrowheads="1"/>
                </p:cNvSpPr>
                <p:nvPr/>
              </p:nvSpPr>
              <p:spPr bwMode="gray">
                <a:xfrm>
                  <a:off x="2967216" y="4591653"/>
                  <a:ext cx="3641575" cy="519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spAutoFit/>
                </a:bodyPr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4.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503050405090304" pitchFamily="18" charset="0"/>
                      <a:ea typeface="微软雅黑" panose="020B0503020204020204" pitchFamily="34" charset="-122"/>
                      <a:cs typeface="+mn-cs"/>
                    </a:rPr>
                    <a:t>实验结果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5178" name="组合 2"/>
            <p:cNvGrpSpPr/>
            <p:nvPr/>
          </p:nvGrpSpPr>
          <p:grpSpPr>
            <a:xfrm>
              <a:off x="2038558" y="4779921"/>
              <a:ext cx="5029018" cy="711387"/>
              <a:chOff x="2203450" y="666957"/>
              <a:chExt cx="5029018" cy="711387"/>
            </a:xfrm>
          </p:grpSpPr>
          <p:sp>
            <p:nvSpPr>
              <p:cNvPr id="5179" name="Freeform 108"/>
              <p:cNvSpPr/>
              <p:nvPr/>
            </p:nvSpPr>
            <p:spPr>
              <a:xfrm>
                <a:off x="2368342" y="1076719"/>
                <a:ext cx="4699416" cy="301625"/>
              </a:xfrm>
              <a:custGeom>
                <a:avLst/>
                <a:gdLst>
                  <a:gd name="txL" fmla="*/ 0 w 1120"/>
                  <a:gd name="txT" fmla="*/ 0 h 252"/>
                  <a:gd name="txR" fmla="*/ 1120 w 1120"/>
                  <a:gd name="txB" fmla="*/ 252 h 252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0" y="2147483646"/>
                  </a:cxn>
                  <a:cxn ang="0">
                    <a:pos x="0" y="2147483646"/>
                  </a:cxn>
                  <a:cxn ang="0">
                    <a:pos x="2147483646" y="0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1120" h="252">
                    <a:moveTo>
                      <a:pt x="1120" y="252"/>
                    </a:moveTo>
                    <a:lnTo>
                      <a:pt x="1116" y="250"/>
                    </a:lnTo>
                    <a:lnTo>
                      <a:pt x="1100" y="246"/>
                    </a:lnTo>
                    <a:lnTo>
                      <a:pt x="1074" y="240"/>
                    </a:lnTo>
                    <a:lnTo>
                      <a:pt x="1038" y="232"/>
                    </a:lnTo>
                    <a:lnTo>
                      <a:pt x="992" y="222"/>
                    </a:lnTo>
                    <a:lnTo>
                      <a:pt x="938" y="212"/>
                    </a:lnTo>
                    <a:lnTo>
                      <a:pt x="876" y="204"/>
                    </a:lnTo>
                    <a:lnTo>
                      <a:pt x="806" y="196"/>
                    </a:lnTo>
                    <a:lnTo>
                      <a:pt x="730" y="190"/>
                    </a:lnTo>
                    <a:lnTo>
                      <a:pt x="646" y="184"/>
                    </a:lnTo>
                    <a:lnTo>
                      <a:pt x="556" y="184"/>
                    </a:lnTo>
                    <a:lnTo>
                      <a:pt x="466" y="184"/>
                    </a:lnTo>
                    <a:lnTo>
                      <a:pt x="384" y="190"/>
                    </a:lnTo>
                    <a:lnTo>
                      <a:pt x="308" y="196"/>
                    </a:lnTo>
                    <a:lnTo>
                      <a:pt x="238" y="204"/>
                    </a:lnTo>
                    <a:lnTo>
                      <a:pt x="178" y="212"/>
                    </a:lnTo>
                    <a:lnTo>
                      <a:pt x="126" y="222"/>
                    </a:lnTo>
                    <a:lnTo>
                      <a:pt x="82" y="232"/>
                    </a:lnTo>
                    <a:lnTo>
                      <a:pt x="46" y="240"/>
                    </a:lnTo>
                    <a:lnTo>
                      <a:pt x="20" y="246"/>
                    </a:lnTo>
                    <a:lnTo>
                      <a:pt x="6" y="250"/>
                    </a:lnTo>
                    <a:lnTo>
                      <a:pt x="0" y="252"/>
                    </a:lnTo>
                    <a:lnTo>
                      <a:pt x="0" y="62"/>
                    </a:lnTo>
                    <a:lnTo>
                      <a:pt x="560" y="0"/>
                    </a:lnTo>
                    <a:lnTo>
                      <a:pt x="1120" y="62"/>
                    </a:lnTo>
                    <a:lnTo>
                      <a:pt x="1120" y="252"/>
                    </a:lnTo>
                    <a:close/>
                  </a:path>
                </a:pathLst>
              </a:custGeom>
              <a:solidFill>
                <a:srgbClr val="808080">
                  <a:alpha val="100000"/>
                </a:srgbClr>
              </a:solidFill>
              <a:ln w="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80" name="Rectangle 109"/>
              <p:cNvSpPr>
                <a:spLocks noChangeArrowheads="1"/>
              </p:cNvSpPr>
              <p:nvPr/>
            </p:nvSpPr>
            <p:spPr bwMode="gray">
              <a:xfrm>
                <a:off x="2203450" y="666985"/>
                <a:ext cx="5028993" cy="624026"/>
              </a:xfrm>
              <a:prstGeom prst="rect">
                <a:avLst/>
              </a:prstGeom>
              <a:gradFill rotWithShape="1">
                <a:gsLst>
                  <a:gs pos="98000">
                    <a:schemeClr val="accent2">
                      <a:lumMod val="20000"/>
                      <a:lumOff val="80000"/>
                    </a:schemeClr>
                  </a:gs>
                  <a:gs pos="100000">
                    <a:srgbClr val="DACB5E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81" name="Text Box 110"/>
              <p:cNvSpPr txBox="1">
                <a:spLocks noChangeArrowheads="1"/>
              </p:cNvSpPr>
              <p:nvPr/>
            </p:nvSpPr>
            <p:spPr bwMode="gray">
              <a:xfrm>
                <a:off x="2649520" y="751141"/>
                <a:ext cx="3497118" cy="519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>
                <a:spAutoFit/>
              </a:bodyPr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rPr>
                  <a:t>5. </a:t>
                </a: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微软雅黑" panose="020B0503020204020204" pitchFamily="34" charset="-122"/>
                    <a:cs typeface="+mn-cs"/>
                  </a:rPr>
                  <a:t>总结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5182" name="TextBox 5181"/>
          <p:cNvSpPr txBox="1"/>
          <p:nvPr/>
        </p:nvSpPr>
        <p:spPr>
          <a:xfrm>
            <a:off x="6894576" y="9144"/>
            <a:ext cx="100584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chemeClr val="bg1"/>
                </a:solidFill>
                <a:latin typeface="Times New Roman" panose="02020503050405090304"/>
                <a:ea typeface="微软雅黑"/>
              </a:rPr>
              <a:t>提纲</a:t>
            </a:r>
            <a:endParaRPr sz="3200" b="1">
              <a:solidFill>
                <a:schemeClr val="bg1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2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总结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183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184" name="TextBox 5183"/>
          <p:cNvSpPr txBox="1"/>
          <p:nvPr/>
        </p:nvSpPr>
        <p:spPr>
          <a:xfrm>
            <a:off x="502920" y="91440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总结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185" name="TextBox 5184"/>
          <p:cNvSpPr txBox="1"/>
          <p:nvPr/>
        </p:nvSpPr>
        <p:spPr>
          <a:xfrm>
            <a:off x="731520" y="1463040"/>
            <a:ext cx="7680960" cy="43891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just">
              <a:lnSpc>
                <a:spcPct val="160000"/>
              </a:lnSpc>
            </a:pPr>
            <a:r>
              <a:rPr sz="1800" b="0">
                <a:latin typeface="微软雅黑"/>
                <a:ea typeface="微软雅黑"/>
              </a:rPr>
              <a:t>本文提出了 Hyperion，首个面向现成 Vision Transformer、在动态网络下实现超高清视频低时延云边协同推理的系统。它把 ViT 原生的 patch 结构转化为系统级的卸载决策单元（POI），并把"卸载什么、以什么质量卸载"建模为多选择背包问题，用动态规划最优求解。协同感知评分器决定各 patch 的传输优先级，轻量级 profiler 提供低开销的大小与精度预测，自适应调度器在时延约束内最大化精度，云端-设备融合器补偿压缩带来的信息损失。在真实设备和真实网络轨迹上，Hyperion 的帧处理速率最高提升 1.61 倍，精度最高提升 20.2%，卸载数据量降至基线的四分之一到五分之二。</a:t>
            </a:r>
            <a:endParaRPr sz="180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总结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184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185" name="TextBox 5184"/>
          <p:cNvSpPr txBox="1"/>
          <p:nvPr/>
        </p:nvSpPr>
        <p:spPr>
          <a:xfrm>
            <a:off x="502920" y="91440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不足与思考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186" name="TextBox 5185"/>
          <p:cNvSpPr txBox="1"/>
          <p:nvPr/>
        </p:nvSpPr>
        <p:spPr>
          <a:xfrm>
            <a:off x="502920" y="1371600"/>
            <a:ext cx="8138160" cy="46634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只在目标检测任务和 ViTDet 一个模型家族上验证，对分割、跟踪等任务以及 Swin 等层次化 ViT 的适用性没有实验。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两个 profiler 是离线在 PANDA 上用线性回归拟合的，换场景或换模型需要重新剖析，线性假设在其他数据分布下是否成立没有讨论。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调度以单帧为单位，没有利用相邻帧重要性分布高度相似这一时间相关性。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系统结构为单设备对单云服务器，没有考虑多个边缘设备共享带宽和云端 GPU 时的多用户调度与公平性。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端侧小 ViT 需要对整帧完成一次推理才能得到重要性分数，4G 场景下端侧计算占端到端时延 96.5%，端侧计算成为新瓶颈。</a:t>
            </a:r>
            <a:endParaRPr sz="1500" b="0"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sz="1500" b="1">
                <a:latin typeface="微软雅黑"/>
                <a:ea typeface="微软雅黑"/>
              </a:rPr>
              <a:t>· </a:t>
            </a:r>
            <a:r>
              <a:rPr sz="1500" b="0">
                <a:latin typeface="微软雅黑"/>
                <a:ea typeface="微软雅黑"/>
              </a:rPr>
              <a:t>延伸方向：帧间重要性传播、多设备多任务的边缘集群资源分配、profiler 在线自适应更新。</a:t>
            </a:r>
            <a:endParaRPr sz="150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3096" y="9144"/>
            <a:ext cx="1828800" cy="630936"/>
          </a:xfrm>
          <a:prstGeom prst="rect">
            <a:avLst/>
          </a:prstGeom>
          <a:noFill/>
        </p:spPr>
        <p:txBody>
          <a:bodyPr wrap="none" lIns="45720" tIns="27432" rIns="45720" bIns="27432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503050405090304"/>
                <a:ea typeface="微软雅黑"/>
              </a:rPr>
              <a:t>总结</a:t>
            </a:r>
            <a:endParaRPr sz="3200" b="1">
              <a:solidFill>
                <a:srgbClr val="FFFFFF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5185" name="灯片编号占位符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en-US" altLang="zh-CN" sz="1200" dirty="0">
                <a:solidFill>
                  <a:srgbClr val="898989"/>
                </a:solidFill>
                <a:latin typeface="Times New Roman" panose="02020503050405090304" pitchFamily="18" charset="0"/>
              </a:rPr>
            </a:fld>
            <a:endParaRPr lang="en-US" altLang="zh-CN" sz="1200" dirty="0">
              <a:solidFill>
                <a:srgbClr val="898989"/>
              </a:solidFill>
              <a:latin typeface="Times New Roman" panose="02020503050405090304" pitchFamily="18" charset="0"/>
            </a:endParaRPr>
          </a:p>
        </p:txBody>
      </p:sp>
      <p:sp>
        <p:nvSpPr>
          <p:cNvPr id="5186" name="TextBox 5185"/>
          <p:cNvSpPr txBox="1"/>
          <p:nvPr/>
        </p:nvSpPr>
        <p:spPr>
          <a:xfrm>
            <a:off x="502920" y="91440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sz="2000" b="0">
                <a:solidFill>
                  <a:srgbClr val="014181"/>
                </a:solidFill>
                <a:latin typeface="微软雅黑"/>
                <a:ea typeface="微软雅黑"/>
              </a:rPr>
              <a:t>参考文献</a:t>
            </a:r>
            <a:endParaRPr sz="2000" b="0">
              <a:solidFill>
                <a:srgbClr val="014181"/>
              </a:solidFill>
              <a:latin typeface="微软雅黑"/>
              <a:ea typeface="微软雅黑"/>
            </a:endParaRPr>
          </a:p>
        </p:txBody>
      </p:sp>
      <p:sp>
        <p:nvSpPr>
          <p:cNvPr id="5187" name="TextBox 5186"/>
          <p:cNvSpPr txBox="1"/>
          <p:nvPr/>
        </p:nvSpPr>
        <p:spPr>
          <a:xfrm>
            <a:off x="502920" y="1371600"/>
            <a:ext cx="8138160" cy="46634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latin typeface="微软雅黑"/>
                <a:ea typeface="微软雅黑"/>
              </a:rPr>
              <a:t>· </a:t>
            </a:r>
            <a:r>
              <a:rPr sz="1300" b="0">
                <a:latin typeface="微软雅黑"/>
                <a:ea typeface="微软雅黑"/>
              </a:rPr>
              <a:t>L. Jiang, Y. Zhu, H. Yin, B. Li. Hyperion: Low-Latency Ultra-HD Video Analytics via Collaborative Vision Transformer Inference. IEEE INFOCOM 2026. arXiv:2512.21730.</a:t>
            </a:r>
            <a:endParaRPr sz="1300" b="0">
              <a:latin typeface="微软雅黑"/>
              <a:ea typeface="微软雅黑"/>
            </a:endParaRPr>
          </a:p>
          <a:p>
            <a:pPr>
              <a:lnSpc>
                <a:spcPct val="125000"/>
              </a:lnSpc>
            </a:pPr>
            <a:r>
              <a:rPr sz="1300" b="1">
                <a:latin typeface="微软雅黑"/>
                <a:ea typeface="微软雅黑"/>
              </a:rPr>
              <a:t>· </a:t>
            </a:r>
            <a:r>
              <a:rPr sz="1300" b="0">
                <a:latin typeface="微软雅黑"/>
                <a:ea typeface="微软雅黑"/>
              </a:rPr>
              <a:t>L. Jiang, S. D. Fu, Y. Zhu, B. Li. Janus: Collaborative Vision Transformer under Dynamic Network Environment. IEEE INFOCOM 2025.</a:t>
            </a:r>
            <a:endParaRPr sz="1300" b="0">
              <a:latin typeface="微软雅黑"/>
              <a:ea typeface="微软雅黑"/>
            </a:endParaRPr>
          </a:p>
          <a:p>
            <a:pPr>
              <a:lnSpc>
                <a:spcPct val="125000"/>
              </a:lnSpc>
            </a:pPr>
            <a:r>
              <a:rPr sz="1300" b="1">
                <a:latin typeface="微软雅黑"/>
                <a:ea typeface="微软雅黑"/>
              </a:rPr>
              <a:t>· </a:t>
            </a:r>
            <a:r>
              <a:rPr sz="1300" b="0">
                <a:latin typeface="微软雅黑"/>
                <a:ea typeface="微软雅黑"/>
              </a:rPr>
              <a:t>W. Zhang et al. Elf: Accelerate High-Resolution Mobile Deep Vision with Content-Aware Parallel Offloading. ACM MobiCom 2021.</a:t>
            </a:r>
            <a:endParaRPr sz="1300" b="0">
              <a:latin typeface="微软雅黑"/>
              <a:ea typeface="微软雅黑"/>
            </a:endParaRPr>
          </a:p>
          <a:p>
            <a:pPr>
              <a:lnSpc>
                <a:spcPct val="125000"/>
              </a:lnSpc>
            </a:pPr>
            <a:r>
              <a:rPr sz="1300" b="1">
                <a:latin typeface="微软雅黑"/>
                <a:ea typeface="微软雅黑"/>
              </a:rPr>
              <a:t>· </a:t>
            </a:r>
            <a:r>
              <a:rPr sz="1300" b="0">
                <a:latin typeface="微软雅黑"/>
                <a:ea typeface="微软雅黑"/>
              </a:rPr>
              <a:t>S. Jiang et al. Flexible High-Resolution Object Detection on Edge Devices with Tunable Latency (Remix). ACM MobiCom 2021.</a:t>
            </a:r>
            <a:endParaRPr sz="1300" b="0">
              <a:latin typeface="微软雅黑"/>
              <a:ea typeface="微软雅黑"/>
            </a:endParaRPr>
          </a:p>
          <a:p>
            <a:pPr>
              <a:lnSpc>
                <a:spcPct val="125000"/>
              </a:lnSpc>
            </a:pPr>
            <a:r>
              <a:rPr sz="1300" b="1">
                <a:latin typeface="微软雅黑"/>
                <a:ea typeface="微软雅黑"/>
              </a:rPr>
              <a:t>· </a:t>
            </a:r>
            <a:r>
              <a:rPr sz="1300" b="0">
                <a:latin typeface="微软雅黑"/>
                <a:ea typeface="微软雅黑"/>
              </a:rPr>
              <a:t>Y. Li, H. Mao, R. Girshick, K. He. Exploring Plain Vision Transformer Backbones for Object Detection (ViTDet). ECCV 2022.</a:t>
            </a:r>
            <a:endParaRPr sz="1300" b="0">
              <a:latin typeface="微软雅黑"/>
              <a:ea typeface="微软雅黑"/>
            </a:endParaRPr>
          </a:p>
          <a:p>
            <a:pPr>
              <a:lnSpc>
                <a:spcPct val="125000"/>
              </a:lnSpc>
            </a:pPr>
            <a:r>
              <a:rPr sz="1300" b="1">
                <a:latin typeface="微软雅黑"/>
                <a:ea typeface="微软雅黑"/>
              </a:rPr>
              <a:t>· </a:t>
            </a:r>
            <a:r>
              <a:rPr sz="1300" b="0">
                <a:latin typeface="微软雅黑"/>
                <a:ea typeface="微软雅黑"/>
              </a:rPr>
              <a:t>X. Wang et al. PANDA: A Gigapixel-Level Human-Centric Video Dataset. CVPR 2020.</a:t>
            </a:r>
            <a:endParaRPr sz="1300" b="0">
              <a:latin typeface="微软雅黑"/>
              <a:ea typeface="微软雅黑"/>
            </a:endParaRPr>
          </a:p>
          <a:p>
            <a:pPr>
              <a:lnSpc>
                <a:spcPct val="125000"/>
              </a:lnSpc>
            </a:pPr>
            <a:r>
              <a:rPr sz="1300" b="1">
                <a:latin typeface="微软雅黑"/>
                <a:ea typeface="微软雅黑"/>
              </a:rPr>
              <a:t>· </a:t>
            </a:r>
            <a:r>
              <a:rPr sz="1300" b="0">
                <a:latin typeface="微软雅黑"/>
                <a:ea typeface="微软雅黑"/>
              </a:rPr>
              <a:t>S. Ye et al. Galaxy: A Resource-Efficient Collaborative Edge AI System for In-situ Transformer Inference. IEEE INFOCOM 2024.</a:t>
            </a:r>
            <a:endParaRPr sz="130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advTm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6824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743200"/>
            <a:ext cx="9144000" cy="60833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Times New Roman" panose="02020503050405090304"/>
                <a:ea typeface="微软雅黑"/>
              </a:rPr>
              <a:t>谢谢！</a:t>
            </a:r>
            <a:endParaRPr sz="3600" b="1">
              <a:solidFill>
                <a:srgbClr val="000000"/>
              </a:solidFill>
              <a:latin typeface="Times New Roman" panose="02020503050405090304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Times New Roman" panose="02020503050405090304"/>
                <a:ea typeface="微软雅黑"/>
              </a:rPr>
              <a:t>Hyperion: Low-Latency Ultra-HD Video Analytics via Collaborative Vision Transformer Inference  (IEEE INFOCOM 2026)</a:t>
            </a:r>
            <a:endParaRPr sz="1400" b="0">
              <a:solidFill>
                <a:srgbClr val="595959"/>
              </a:solidFill>
              <a:latin typeface="Times New Roman" panose="02020503050405090304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8119</Words>
  <Application>WPS 演示</Application>
  <PresentationFormat>顶置</PresentationFormat>
  <Paragraphs>547</Paragraphs>
  <Slides>31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31</vt:i4>
      </vt:variant>
    </vt:vector>
  </HeadingPairs>
  <TitlesOfParts>
    <vt:vector size="59" baseType="lpstr">
      <vt:lpstr>Arial</vt:lpstr>
      <vt:lpstr>宋体</vt:lpstr>
      <vt:lpstr>Wingdings</vt:lpstr>
      <vt:lpstr>Times New Roman</vt:lpstr>
      <vt:lpstr>楷体_GB2312</vt:lpstr>
      <vt:lpstr>汉仪楷体简</vt:lpstr>
      <vt:lpstr>黑体</vt:lpstr>
      <vt:lpstr>黑体-简</vt:lpstr>
      <vt:lpstr>微软雅黑</vt:lpstr>
      <vt:lpstr>汉仪旗黑</vt:lpstr>
      <vt:lpstr>Times New Roman</vt:lpstr>
      <vt:lpstr>微软雅黑</vt:lpstr>
      <vt:lpstr>宋体</vt:lpstr>
      <vt:lpstr>Arial Unicode MS</vt:lpstr>
      <vt:lpstr>Calibri</vt:lpstr>
      <vt:lpstr>Helvetica Neue</vt:lpstr>
      <vt:lpstr>宋体-简</vt:lpstr>
      <vt:lpstr>Arial Regular</vt:lpstr>
      <vt:lpstr>主题1</vt:lpstr>
      <vt:lpstr>1_主题1</vt:lpstr>
      <vt:lpstr>2_主题1</vt:lpstr>
      <vt:lpstr>3_主题1</vt:lpstr>
      <vt:lpstr>4_主题1</vt:lpstr>
      <vt:lpstr>5_主题1</vt:lpstr>
      <vt:lpstr>6_主题1</vt:lpstr>
      <vt:lpstr>7_主题1</vt:lpstr>
      <vt:lpstr>8_主题1</vt:lpstr>
      <vt:lpstr>9_主题1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XX大学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XX大学</dc:creator>
  <cp:lastModifiedBy>XX大学</cp:lastModifiedBy>
  <cp:revision>2665</cp:revision>
  <cp:lastPrinted>2026-09-23T12:31:31Z</cp:lastPrinted>
  <dcterms:created xsi:type="dcterms:W3CDTF">2026-09-23T12:31:31Z</dcterms:created>
  <dcterms:modified xsi:type="dcterms:W3CDTF">2026-09-23T12:31:31Z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BC46B69BB3704A56A3D5500C443A155D_12</vt:lpwstr>
  </property>
  <property fmtid="{D5CDD505-2E9C-101B-9397-08002B2CF9AE}" pid="3" name="KSOProductBuildVer">
    <vt:lpwstr>2052-12.1.28496.28496</vt:lpwstr>
  </property>
</Properties>
</file>